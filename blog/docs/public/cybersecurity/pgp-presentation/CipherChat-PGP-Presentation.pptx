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CipherChat is an end-to-end encrypted chat app I built. Messages and files are encrypted with OpenPGP in the browser, and the Spring Boot server only ever stores ciphertext like the text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PGP uses a key pair. The public key is shared and locks messages for you; the private key stays on your device and unlocks them. Signing uses the private key and anyone can check it with the public key. PGP started in 1991 and is now the OpenPGP standard, RFC 9580.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register, your browser generates a Curve25519 key pair with OpenPGP.js and uploads only the public key. Each message or file is encrypted to the receiver and the sender and signed. The receiver decrypts in their browser and sees Verified. The server only stores and relays PGP ciphertext.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does the cryptography with OpenPGP.js inside a Next.js app. Spring Boot provides the API, secured with Spring Security, JWT and BCrypt. BouncyCastle only inspects PGP data. WebSocket with STOMP delivers messages in real time. PostgreSQL with Flyway stores the data, and Docker Compose runs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make CipherChat strong: encryption and signing happen in the browser; the server never sees plaintext, private keys or passphrases; every message shows whether its signature checks out; and fingerprints are pinned so a swapped key is caught. The code and a full course are at these links.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5" Type="http://schemas.openxmlformats.org/officeDocument/2006/relationships/hyperlink" Target="https://github.com/angelabs-png/cipherchat" TargetMode="External"/><Relationship Id="rId6" Type="http://schemas.openxmlformats.org/officeDocument/2006/relationships/hyperlink" Target="https://angelabs-png.github.io/cipherchat/cybersecurity/pgp-from-the-beginning/" TargetMode="Externa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EEE4"/>
        </a:solidFill>
      </p:bgPr>
    </p:bg>
    <p:spTree>
      <p:nvGrpSpPr>
        <p:cNvPr id="1" name=""/>
        <p:cNvGrpSpPr/>
        <p:nvPr/>
      </p:nvGrpSpPr>
      <p:grpSpPr>
        <a:xfrm>
          <a:off x="0" y="0"/>
          <a:ext cx="0" cy="0"/>
          <a:chOff x="0" y="0"/>
          <a:chExt cx="0" cy="0"/>
        </a:xfrm>
      </p:grpSpPr>
      <p:sp>
        <p:nvSpPr>
          <p:cNvPr id="2" name="Text 0"/>
          <p:cNvSpPr txBox="1"/>
          <p:nvPr/>
        </p:nvSpPr>
        <p:spPr>
          <a:xfrm>
            <a:off x="548640" y="1234440"/>
            <a:ext cx="5120640" cy="1737360"/>
          </a:xfrm>
          <a:prstGeom prst="rect">
            <a:avLst/>
          </a:prstGeom>
          <a:noFill/>
          <a:ln/>
        </p:spPr>
        <p:txBody>
          <a:bodyPr wrap="square" lIns="0" tIns="0" rIns="0" bIns="0" rtlCol="0" anchor="b"/>
          <a:lstStyle/>
          <a:p>
            <a:pPr indent="0" marL="0">
              <a:buNone/>
            </a:pPr>
            <a:r>
              <a:rPr lang="en-US" sz="3600" b="1" dirty="0">
                <a:solidFill>
                  <a:srgbClr val="4A3B30"/>
                </a:solidFill>
                <a:latin typeface="Cambria" pitchFamily="34" charset="0"/>
                <a:ea typeface="Cambria" pitchFamily="34" charset="-122"/>
                <a:cs typeface="Cambria" pitchFamily="34" charset="-120"/>
              </a:rPr>
              <a:t>CipherChat: Private Conversations with PGP Encryption</a:t>
            </a:r>
            <a:endParaRPr lang="en-US" sz="3600" dirty="0"/>
          </a:p>
        </p:txBody>
      </p:sp>
      <p:sp>
        <p:nvSpPr>
          <p:cNvPr id="3" name="Text 1"/>
          <p:cNvSpPr txBox="1"/>
          <p:nvPr/>
        </p:nvSpPr>
        <p:spPr>
          <a:xfrm>
            <a:off x="548640" y="3154680"/>
            <a:ext cx="5120640" cy="411480"/>
          </a:xfrm>
          <a:prstGeom prst="rect">
            <a:avLst/>
          </a:prstGeom>
          <a:noFill/>
          <a:ln/>
        </p:spPr>
        <p:txBody>
          <a:bodyPr wrap="square" lIns="0" tIns="0" rIns="0" bIns="0" rtlCol="0" anchor="t"/>
          <a:lstStyle/>
          <a:p>
            <a:pPr indent="0" marL="0">
              <a:buNone/>
            </a:pPr>
            <a:r>
              <a:rPr lang="en-US" sz="1800" dirty="0">
                <a:solidFill>
                  <a:srgbClr val="65523F"/>
                </a:solidFill>
                <a:latin typeface="Calibri" pitchFamily="34" charset="0"/>
                <a:ea typeface="Calibri" pitchFamily="34" charset="-122"/>
                <a:cs typeface="Calibri" pitchFamily="34" charset="-120"/>
              </a:rPr>
              <a:t>Presented by Ange De Noella Mutesi</a:t>
            </a:r>
            <a:endParaRPr lang="en-US" sz="1800" dirty="0"/>
          </a:p>
        </p:txBody>
      </p:sp>
      <p:sp>
        <p:nvSpPr>
          <p:cNvPr id="4" name="Text 2"/>
          <p:cNvSpPr txBox="1"/>
          <p:nvPr/>
        </p:nvSpPr>
        <p:spPr>
          <a:xfrm>
            <a:off x="548640" y="3657600"/>
            <a:ext cx="5120640" cy="320040"/>
          </a:xfrm>
          <a:prstGeom prst="rect">
            <a:avLst/>
          </a:prstGeom>
          <a:noFill/>
          <a:ln/>
        </p:spPr>
        <p:txBody>
          <a:bodyPr wrap="square" lIns="0" tIns="0" rIns="0" bIns="0" rtlCol="0" anchor="t"/>
          <a:lstStyle/>
          <a:p>
            <a:pPr indent="0" marL="0">
              <a:buNone/>
            </a:pPr>
            <a:r>
              <a:rPr lang="en-US" sz="1200" dirty="0">
                <a:solidFill>
                  <a:srgbClr val="B0603F"/>
                </a:solidFill>
                <a:latin typeface="Calibri" pitchFamily="34" charset="0"/>
                <a:ea typeface="Calibri" pitchFamily="34" charset="-122"/>
                <a:cs typeface="Calibri" pitchFamily="34" charset="-120"/>
              </a:rPr>
              <a:t>End-to-end encrypted chat  ·  OpenPGP in the browser  ·  Spring Boot server</a:t>
            </a:r>
            <a:endParaRPr lang="en-US" sz="1200" dirty="0"/>
          </a:p>
        </p:txBody>
      </p:sp>
      <p:sp>
        <p:nvSpPr>
          <p:cNvPr id="5" name="Shape 3"/>
          <p:cNvSpPr/>
          <p:nvPr/>
        </p:nvSpPr>
        <p:spPr>
          <a:xfrm>
            <a:off x="5989320" y="868680"/>
            <a:ext cx="2651760" cy="2651760"/>
          </a:xfrm>
          <a:prstGeom prst="ellipse">
            <a:avLst/>
          </a:prstGeom>
          <a:solidFill>
            <a:srgbClr val="FFFDF9"/>
          </a:solidFill>
          <a:ln w="19050">
            <a:solidFill>
              <a:srgbClr val="E6DCCD"/>
            </a:solidFill>
            <a:prstDash val="solid"/>
          </a:ln>
        </p:spPr>
      </p:sp>
      <p:sp>
        <p:nvSpPr>
          <p:cNvPr id="6" name="Shape 4"/>
          <p:cNvSpPr/>
          <p:nvPr/>
        </p:nvSpPr>
        <p:spPr>
          <a:xfrm>
            <a:off x="6492240" y="1371600"/>
            <a:ext cx="1645920" cy="1645920"/>
          </a:xfrm>
          <a:prstGeom prst="ellipse">
            <a:avLst/>
          </a:prstGeom>
          <a:solidFill>
            <a:srgbClr val="F3E1D6"/>
          </a:solidFill>
          <a:ln w="12700">
            <a:solidFill>
              <a:srgbClr val="F3E1D6"/>
            </a:solidFill>
            <a:prstDash val="solid"/>
          </a:ln>
        </p:spPr>
      </p:sp>
      <p:pic>
        <p:nvPicPr>
          <p:cNvPr id="7" name="Image 0" descr="preencoded.png">    </p:cNvPr>
          <p:cNvPicPr>
            <a:picLocks noChangeAspect="1"/>
          </p:cNvPicPr>
          <p:nvPr/>
        </p:nvPicPr>
        <p:blipFill>
          <a:blip r:embed="rId1"/>
          <a:stretch>
            <a:fillRect/>
          </a:stretch>
        </p:blipFill>
        <p:spPr>
          <a:xfrm>
            <a:off x="6903720" y="1783080"/>
            <a:ext cx="822960" cy="822960"/>
          </a:xfrm>
          <a:prstGeom prst="rect">
            <a:avLst/>
          </a:prstGeom>
        </p:spPr>
      </p:pic>
      <p:sp>
        <p:nvSpPr>
          <p:cNvPr id="8" name="Shape 5"/>
          <p:cNvSpPr/>
          <p:nvPr/>
        </p:nvSpPr>
        <p:spPr>
          <a:xfrm>
            <a:off x="5715000" y="3794760"/>
            <a:ext cx="3200400" cy="685800"/>
          </a:xfrm>
          <a:prstGeom prst="roundRect">
            <a:avLst>
              <a:gd name="adj" fmla="val 10667"/>
            </a:avLst>
          </a:prstGeom>
          <a:solidFill>
            <a:srgbClr val="FFFDF9"/>
          </a:solidFill>
          <a:ln w="12700">
            <a:solidFill>
              <a:srgbClr val="E6DCCD"/>
            </a:solidFill>
            <a:prstDash val="solid"/>
          </a:ln>
        </p:spPr>
      </p:sp>
      <p:sp>
        <p:nvSpPr>
          <p:cNvPr id="9" name="Text 6"/>
          <p:cNvSpPr txBox="1"/>
          <p:nvPr/>
        </p:nvSpPr>
        <p:spPr>
          <a:xfrm>
            <a:off x="5852160" y="3886200"/>
            <a:ext cx="2971800" cy="502920"/>
          </a:xfrm>
          <a:prstGeom prst="rect">
            <a:avLst/>
          </a:prstGeom>
          <a:noFill/>
          <a:ln/>
        </p:spPr>
        <p:txBody>
          <a:bodyPr wrap="square" lIns="0" tIns="0" rIns="0" bIns="0" rtlCol="0" anchor="ctr"/>
          <a:lstStyle/>
          <a:p>
            <a:pPr indent="0" marL="0">
              <a:buNone/>
            </a:pPr>
            <a:r>
              <a:rPr lang="en-US" sz="950" dirty="0">
                <a:solidFill>
                  <a:srgbClr val="65523F"/>
                </a:solidFill>
                <a:latin typeface="Courier New" pitchFamily="34" charset="0"/>
                <a:ea typeface="Courier New" pitchFamily="34" charset="-122"/>
                <a:cs typeface="Courier New" pitchFamily="34" charset="-120"/>
              </a:rPr>
              <a:t>-----BEGIN PGP MESSAGE-----</a:t>
            </a:r>
            <a:endParaRPr lang="en-US" sz="950" dirty="0"/>
          </a:p>
          <a:p>
            <a:pPr indent="0" marL="0">
              <a:buNone/>
            </a:pPr>
            <a:r>
              <a:rPr lang="en-US" sz="950" dirty="0">
                <a:solidFill>
                  <a:srgbClr val="65523F"/>
                </a:solidFill>
                <a:latin typeface="Courier New" pitchFamily="34" charset="0"/>
                <a:ea typeface="Courier New" pitchFamily="34" charset="-122"/>
                <a:cs typeface="Courier New" pitchFamily="34" charset="-120"/>
              </a:rPr>
              <a:t>wV4D9v78+ubzcX8SAQdA/uZ1cLp0nz…</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3"/>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t"/>
          <a:lstStyle/>
          <a:p>
            <a:pPr indent="0" marL="0">
              <a:buNone/>
            </a:pPr>
            <a:r>
              <a:rPr lang="en-US" sz="3400" b="1" dirty="0">
                <a:solidFill>
                  <a:srgbClr val="4A3B30"/>
                </a:solidFill>
                <a:latin typeface="Cambria" pitchFamily="34" charset="0"/>
                <a:ea typeface="Cambria" pitchFamily="34" charset="-122"/>
                <a:cs typeface="Cambria" pitchFamily="34" charset="-120"/>
              </a:rPr>
              <a:t>What is PGP?</a:t>
            </a:r>
            <a:endParaRPr lang="en-US" sz="3400" dirty="0"/>
          </a:p>
        </p:txBody>
      </p:sp>
      <p:sp>
        <p:nvSpPr>
          <p:cNvPr id="3" name="Shape 1"/>
          <p:cNvSpPr/>
          <p:nvPr/>
        </p:nvSpPr>
        <p:spPr>
          <a:xfrm>
            <a:off x="457200" y="1188720"/>
            <a:ext cx="3931920" cy="1600200"/>
          </a:xfrm>
          <a:prstGeom prst="roundRect">
            <a:avLst>
              <a:gd name="adj" fmla="val 6857"/>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4" name="Shape 2"/>
          <p:cNvSpPr/>
          <p:nvPr/>
        </p:nvSpPr>
        <p:spPr>
          <a:xfrm>
            <a:off x="685800" y="1417320"/>
            <a:ext cx="640080" cy="640080"/>
          </a:xfrm>
          <a:prstGeom prst="ellipse">
            <a:avLst/>
          </a:prstGeom>
          <a:solidFill>
            <a:srgbClr val="F3E1D6"/>
          </a:solidFill>
          <a:ln w="12700">
            <a:solidFill>
              <a:srgbClr val="F3E1D6"/>
            </a:solidFill>
            <a:prstDash val="solid"/>
          </a:ln>
        </p:spPr>
      </p:sp>
      <p:pic>
        <p:nvPicPr>
          <p:cNvPr id="5" name="Image 0" descr="preencoded.png">    </p:cNvPr>
          <p:cNvPicPr>
            <a:picLocks noChangeAspect="1"/>
          </p:cNvPicPr>
          <p:nvPr/>
        </p:nvPicPr>
        <p:blipFill>
          <a:blip r:embed="rId1"/>
          <a:stretch>
            <a:fillRect/>
          </a:stretch>
        </p:blipFill>
        <p:spPr>
          <a:xfrm>
            <a:off x="845820" y="1577340"/>
            <a:ext cx="320040" cy="320040"/>
          </a:xfrm>
          <a:prstGeom prst="rect">
            <a:avLst/>
          </a:prstGeom>
        </p:spPr>
      </p:pic>
      <p:sp>
        <p:nvSpPr>
          <p:cNvPr id="6" name="Text 3"/>
          <p:cNvSpPr txBox="1"/>
          <p:nvPr/>
        </p:nvSpPr>
        <p:spPr>
          <a:xfrm>
            <a:off x="1508760" y="1463040"/>
            <a:ext cx="2697480" cy="411480"/>
          </a:xfrm>
          <a:prstGeom prst="rect">
            <a:avLst/>
          </a:prstGeom>
          <a:noFill/>
          <a:ln/>
        </p:spPr>
        <p:txBody>
          <a:bodyPr wrap="square" lIns="0" tIns="0" rIns="0" bIns="0" rtlCol="0" anchor="t"/>
          <a:lstStyle/>
          <a:p>
            <a:pPr indent="0" marL="0">
              <a:buNone/>
            </a:pPr>
            <a:r>
              <a:rPr lang="en-US" sz="2000" b="1" dirty="0">
                <a:solidFill>
                  <a:srgbClr val="4A3B30"/>
                </a:solidFill>
                <a:latin typeface="Cambria" pitchFamily="34" charset="0"/>
                <a:ea typeface="Cambria" pitchFamily="34" charset="-122"/>
                <a:cs typeface="Cambria" pitchFamily="34" charset="-120"/>
              </a:rPr>
              <a:t>Public key</a:t>
            </a:r>
            <a:endParaRPr lang="en-US" sz="2000" dirty="0"/>
          </a:p>
        </p:txBody>
      </p:sp>
      <p:sp>
        <p:nvSpPr>
          <p:cNvPr id="7" name="Text 4"/>
          <p:cNvSpPr txBox="1"/>
          <p:nvPr/>
        </p:nvSpPr>
        <p:spPr>
          <a:xfrm>
            <a:off x="1508760" y="1920240"/>
            <a:ext cx="2697480" cy="7772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65523F"/>
                </a:solidFill>
                <a:latin typeface="Calibri" pitchFamily="34" charset="0"/>
                <a:ea typeface="Calibri" pitchFamily="34" charset="-122"/>
                <a:cs typeface="Calibri" pitchFamily="34" charset="-120"/>
              </a:rPr>
              <a:t>Share it with anyone</a:t>
            </a:r>
            <a:endParaRPr lang="en-US" sz="1300" dirty="0"/>
          </a:p>
          <a:p>
            <a:pPr marL="342900" indent="-342900">
              <a:spcAft>
                <a:spcPts val="400"/>
              </a:spcAft>
              <a:buSzPct val="100000"/>
              <a:buChar char="•"/>
            </a:pPr>
            <a:r>
              <a:rPr lang="en-US" sz="1300" dirty="0">
                <a:solidFill>
                  <a:srgbClr val="65523F"/>
                </a:solidFill>
                <a:latin typeface="Calibri" pitchFamily="34" charset="0"/>
                <a:ea typeface="Calibri" pitchFamily="34" charset="-122"/>
                <a:cs typeface="Calibri" pitchFamily="34" charset="-120"/>
              </a:rPr>
              <a:t>Locks messages for you and checks your signature</a:t>
            </a:r>
            <a:endParaRPr lang="en-US" sz="1300" dirty="0"/>
          </a:p>
        </p:txBody>
      </p:sp>
      <p:sp>
        <p:nvSpPr>
          <p:cNvPr id="8" name="Shape 5"/>
          <p:cNvSpPr/>
          <p:nvPr/>
        </p:nvSpPr>
        <p:spPr>
          <a:xfrm>
            <a:off x="4754880" y="1188720"/>
            <a:ext cx="3931920" cy="1600200"/>
          </a:xfrm>
          <a:prstGeom prst="roundRect">
            <a:avLst>
              <a:gd name="adj" fmla="val 6857"/>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9" name="Shape 6"/>
          <p:cNvSpPr/>
          <p:nvPr/>
        </p:nvSpPr>
        <p:spPr>
          <a:xfrm>
            <a:off x="4983480" y="1417320"/>
            <a:ext cx="640080" cy="640080"/>
          </a:xfrm>
          <a:prstGeom prst="ellipse">
            <a:avLst/>
          </a:prstGeom>
          <a:solidFill>
            <a:srgbClr val="F3E1D6"/>
          </a:solidFill>
          <a:ln w="12700">
            <a:solidFill>
              <a:srgbClr val="F3E1D6"/>
            </a:solidFill>
            <a:prstDash val="solid"/>
          </a:ln>
        </p:spPr>
      </p:sp>
      <p:pic>
        <p:nvPicPr>
          <p:cNvPr id="10" name="Image 1" descr="preencoded.png">    </p:cNvPr>
          <p:cNvPicPr>
            <a:picLocks noChangeAspect="1"/>
          </p:cNvPicPr>
          <p:nvPr/>
        </p:nvPicPr>
        <p:blipFill>
          <a:blip r:embed="rId2"/>
          <a:stretch>
            <a:fillRect/>
          </a:stretch>
        </p:blipFill>
        <p:spPr>
          <a:xfrm>
            <a:off x="5143500" y="1577340"/>
            <a:ext cx="320040" cy="320040"/>
          </a:xfrm>
          <a:prstGeom prst="rect">
            <a:avLst/>
          </a:prstGeom>
        </p:spPr>
      </p:pic>
      <p:sp>
        <p:nvSpPr>
          <p:cNvPr id="11" name="Text 7"/>
          <p:cNvSpPr txBox="1"/>
          <p:nvPr/>
        </p:nvSpPr>
        <p:spPr>
          <a:xfrm>
            <a:off x="5806440" y="1463040"/>
            <a:ext cx="2697480" cy="411480"/>
          </a:xfrm>
          <a:prstGeom prst="rect">
            <a:avLst/>
          </a:prstGeom>
          <a:noFill/>
          <a:ln/>
        </p:spPr>
        <p:txBody>
          <a:bodyPr wrap="square" lIns="0" tIns="0" rIns="0" bIns="0" rtlCol="0" anchor="t"/>
          <a:lstStyle/>
          <a:p>
            <a:pPr indent="0" marL="0">
              <a:buNone/>
            </a:pPr>
            <a:r>
              <a:rPr lang="en-US" sz="2000" b="1" dirty="0">
                <a:solidFill>
                  <a:srgbClr val="4A3B30"/>
                </a:solidFill>
                <a:latin typeface="Cambria" pitchFamily="34" charset="0"/>
                <a:ea typeface="Cambria" pitchFamily="34" charset="-122"/>
                <a:cs typeface="Cambria" pitchFamily="34" charset="-120"/>
              </a:rPr>
              <a:t>Private key</a:t>
            </a:r>
            <a:endParaRPr lang="en-US" sz="2000" dirty="0"/>
          </a:p>
        </p:txBody>
      </p:sp>
      <p:sp>
        <p:nvSpPr>
          <p:cNvPr id="12" name="Text 8"/>
          <p:cNvSpPr txBox="1"/>
          <p:nvPr/>
        </p:nvSpPr>
        <p:spPr>
          <a:xfrm>
            <a:off x="5806440" y="1920240"/>
            <a:ext cx="2697480" cy="7772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65523F"/>
                </a:solidFill>
                <a:latin typeface="Calibri" pitchFamily="34" charset="0"/>
                <a:ea typeface="Calibri" pitchFamily="34" charset="-122"/>
                <a:cs typeface="Calibri" pitchFamily="34" charset="-120"/>
              </a:rPr>
              <a:t>Never leaves your device</a:t>
            </a:r>
            <a:endParaRPr lang="en-US" sz="1300" dirty="0"/>
          </a:p>
          <a:p>
            <a:pPr marL="342900" indent="-342900">
              <a:spcAft>
                <a:spcPts val="400"/>
              </a:spcAft>
              <a:buSzPct val="100000"/>
              <a:buChar char="•"/>
            </a:pPr>
            <a:r>
              <a:rPr lang="en-US" sz="1300" dirty="0">
                <a:solidFill>
                  <a:srgbClr val="65523F"/>
                </a:solidFill>
                <a:latin typeface="Calibri" pitchFamily="34" charset="0"/>
                <a:ea typeface="Calibri" pitchFamily="34" charset="-122"/>
                <a:cs typeface="Calibri" pitchFamily="34" charset="-120"/>
              </a:rPr>
              <a:t>Unlocks your messages and signs what you send</a:t>
            </a:r>
            <a:endParaRPr lang="en-US" sz="1300" dirty="0"/>
          </a:p>
        </p:txBody>
      </p:sp>
      <p:sp>
        <p:nvSpPr>
          <p:cNvPr id="13" name="Shape 9"/>
          <p:cNvSpPr/>
          <p:nvPr/>
        </p:nvSpPr>
        <p:spPr>
          <a:xfrm>
            <a:off x="457200" y="3017520"/>
            <a:ext cx="3931920" cy="640080"/>
          </a:xfrm>
          <a:prstGeom prst="roundRect">
            <a:avLst>
              <a:gd name="adj" fmla="val 50000"/>
            </a:avLst>
          </a:prstGeom>
          <a:solidFill>
            <a:srgbClr val="F5EEE4"/>
          </a:solidFill>
          <a:ln w="12700">
            <a:solidFill>
              <a:srgbClr val="E6DCCD"/>
            </a:solidFill>
            <a:prstDash val="solid"/>
          </a:ln>
        </p:spPr>
      </p:sp>
      <p:sp>
        <p:nvSpPr>
          <p:cNvPr id="14" name="Shape 10"/>
          <p:cNvSpPr/>
          <p:nvPr/>
        </p:nvSpPr>
        <p:spPr>
          <a:xfrm>
            <a:off x="566928" y="3090672"/>
            <a:ext cx="493776" cy="493776"/>
          </a:xfrm>
          <a:prstGeom prst="ellipse">
            <a:avLst/>
          </a:prstGeom>
          <a:solidFill>
            <a:srgbClr val="F3E1D6"/>
          </a:solidFill>
          <a:ln w="12700">
            <a:solidFill>
              <a:srgbClr val="F3E1D6"/>
            </a:solidFill>
            <a:prstDash val="solid"/>
          </a:ln>
        </p:spPr>
      </p:sp>
      <p:pic>
        <p:nvPicPr>
          <p:cNvPr id="15" name="Image 2" descr="preencoded.png">    </p:cNvPr>
          <p:cNvPicPr>
            <a:picLocks noChangeAspect="1"/>
          </p:cNvPicPr>
          <p:nvPr/>
        </p:nvPicPr>
        <p:blipFill>
          <a:blip r:embed="rId3"/>
          <a:stretch>
            <a:fillRect/>
          </a:stretch>
        </p:blipFill>
        <p:spPr>
          <a:xfrm>
            <a:off x="690372" y="3214116"/>
            <a:ext cx="246888" cy="246888"/>
          </a:xfrm>
          <a:prstGeom prst="rect">
            <a:avLst/>
          </a:prstGeom>
        </p:spPr>
      </p:pic>
      <p:sp>
        <p:nvSpPr>
          <p:cNvPr id="16" name="Text 11"/>
          <p:cNvSpPr txBox="1"/>
          <p:nvPr/>
        </p:nvSpPr>
        <p:spPr>
          <a:xfrm>
            <a:off x="1188720" y="3017520"/>
            <a:ext cx="3108960" cy="640080"/>
          </a:xfrm>
          <a:prstGeom prst="rect">
            <a:avLst/>
          </a:prstGeom>
          <a:noFill/>
          <a:ln/>
        </p:spPr>
        <p:txBody>
          <a:bodyPr wrap="square" lIns="0" tIns="0" rIns="0" bIns="0" rtlCol="0" anchor="ctr"/>
          <a:lstStyle/>
          <a:p>
            <a:pPr indent="0" marL="0">
              <a:buNone/>
            </a:pPr>
            <a:r>
              <a:rPr lang="en-US" sz="1300" b="1" dirty="0">
                <a:solidFill>
                  <a:srgbClr val="B0603F"/>
                </a:solidFill>
                <a:latin typeface="Calibri" pitchFamily="34" charset="0"/>
                <a:ea typeface="Calibri" pitchFamily="34" charset="-122"/>
                <a:cs typeface="Calibri" pitchFamily="34" charset="-120"/>
              </a:rPr>
              <a:t>Encrypt: </a:t>
            </a:r>
            <a:pPr indent="0" marL="0">
              <a:buNone/>
            </a:pPr>
            <a:r>
              <a:rPr lang="en-US" sz="1300" dirty="0">
                <a:solidFill>
                  <a:srgbClr val="4A3B30"/>
                </a:solidFill>
                <a:latin typeface="Calibri" pitchFamily="34" charset="0"/>
                <a:ea typeface="Calibri" pitchFamily="34" charset="-122"/>
                <a:cs typeface="Calibri" pitchFamily="34" charset="-120"/>
              </a:rPr>
              <a:t>lock with the receiver’s public key</a:t>
            </a:r>
            <a:endParaRPr lang="en-US" sz="1300" dirty="0"/>
          </a:p>
        </p:txBody>
      </p:sp>
      <p:sp>
        <p:nvSpPr>
          <p:cNvPr id="17" name="Shape 12"/>
          <p:cNvSpPr/>
          <p:nvPr/>
        </p:nvSpPr>
        <p:spPr>
          <a:xfrm>
            <a:off x="4754880" y="3017520"/>
            <a:ext cx="3931920" cy="640080"/>
          </a:xfrm>
          <a:prstGeom prst="roundRect">
            <a:avLst>
              <a:gd name="adj" fmla="val 50000"/>
            </a:avLst>
          </a:prstGeom>
          <a:solidFill>
            <a:srgbClr val="F5EEE4"/>
          </a:solidFill>
          <a:ln w="12700">
            <a:solidFill>
              <a:srgbClr val="E6DCCD"/>
            </a:solidFill>
            <a:prstDash val="solid"/>
          </a:ln>
        </p:spPr>
      </p:sp>
      <p:sp>
        <p:nvSpPr>
          <p:cNvPr id="18" name="Shape 13"/>
          <p:cNvSpPr/>
          <p:nvPr/>
        </p:nvSpPr>
        <p:spPr>
          <a:xfrm>
            <a:off x="4864608" y="3090672"/>
            <a:ext cx="493776" cy="493776"/>
          </a:xfrm>
          <a:prstGeom prst="ellipse">
            <a:avLst/>
          </a:prstGeom>
          <a:solidFill>
            <a:srgbClr val="F3E1D6"/>
          </a:solidFill>
          <a:ln w="12700">
            <a:solidFill>
              <a:srgbClr val="F3E1D6"/>
            </a:solidFill>
            <a:prstDash val="solid"/>
          </a:ln>
        </p:spPr>
      </p:sp>
      <p:pic>
        <p:nvPicPr>
          <p:cNvPr id="19" name="Image 3" descr="preencoded.png">    </p:cNvPr>
          <p:cNvPicPr>
            <a:picLocks noChangeAspect="1"/>
          </p:cNvPicPr>
          <p:nvPr/>
        </p:nvPicPr>
        <p:blipFill>
          <a:blip r:embed="rId4"/>
          <a:stretch>
            <a:fillRect/>
          </a:stretch>
        </p:blipFill>
        <p:spPr>
          <a:xfrm>
            <a:off x="4988052" y="3214116"/>
            <a:ext cx="246888" cy="246888"/>
          </a:xfrm>
          <a:prstGeom prst="rect">
            <a:avLst/>
          </a:prstGeom>
        </p:spPr>
      </p:pic>
      <p:sp>
        <p:nvSpPr>
          <p:cNvPr id="20" name="Text 14"/>
          <p:cNvSpPr txBox="1"/>
          <p:nvPr/>
        </p:nvSpPr>
        <p:spPr>
          <a:xfrm>
            <a:off x="5486400" y="3017520"/>
            <a:ext cx="3108960" cy="640080"/>
          </a:xfrm>
          <a:prstGeom prst="rect">
            <a:avLst/>
          </a:prstGeom>
          <a:noFill/>
          <a:ln/>
        </p:spPr>
        <p:txBody>
          <a:bodyPr wrap="square" lIns="0" tIns="0" rIns="0" bIns="0" rtlCol="0" anchor="ctr"/>
          <a:lstStyle/>
          <a:p>
            <a:pPr indent="0" marL="0">
              <a:buNone/>
            </a:pPr>
            <a:r>
              <a:rPr lang="en-US" sz="1300" b="1" dirty="0">
                <a:solidFill>
                  <a:srgbClr val="B0603F"/>
                </a:solidFill>
                <a:latin typeface="Calibri" pitchFamily="34" charset="0"/>
                <a:ea typeface="Calibri" pitchFamily="34" charset="-122"/>
                <a:cs typeface="Calibri" pitchFamily="34" charset="-120"/>
              </a:rPr>
              <a:t>Sign: </a:t>
            </a:r>
            <a:pPr indent="0" marL="0">
              <a:buNone/>
            </a:pPr>
            <a:r>
              <a:rPr lang="en-US" sz="1300" dirty="0">
                <a:solidFill>
                  <a:srgbClr val="4A3B30"/>
                </a:solidFill>
                <a:latin typeface="Calibri" pitchFamily="34" charset="0"/>
                <a:ea typeface="Calibri" pitchFamily="34" charset="-122"/>
                <a:cs typeface="Calibri" pitchFamily="34" charset="-120"/>
              </a:rPr>
              <a:t>seal with your private key</a:t>
            </a:r>
            <a:endParaRPr lang="en-US" sz="1300" dirty="0"/>
          </a:p>
        </p:txBody>
      </p:sp>
      <p:sp>
        <p:nvSpPr>
          <p:cNvPr id="21" name="Shape 15"/>
          <p:cNvSpPr/>
          <p:nvPr/>
        </p:nvSpPr>
        <p:spPr>
          <a:xfrm>
            <a:off x="1463040" y="4224528"/>
            <a:ext cx="6217920" cy="0"/>
          </a:xfrm>
          <a:prstGeom prst="line">
            <a:avLst/>
          </a:prstGeom>
          <a:noFill/>
          <a:ln w="19050">
            <a:solidFill>
              <a:srgbClr val="E6DCCD"/>
            </a:solidFill>
            <a:prstDash val="solid"/>
          </a:ln>
        </p:spPr>
      </p:sp>
      <p:sp>
        <p:nvSpPr>
          <p:cNvPr id="22" name="Shape 16"/>
          <p:cNvSpPr/>
          <p:nvPr/>
        </p:nvSpPr>
        <p:spPr>
          <a:xfrm>
            <a:off x="1389888" y="4151376"/>
            <a:ext cx="146304" cy="146304"/>
          </a:xfrm>
          <a:prstGeom prst="ellipse">
            <a:avLst/>
          </a:prstGeom>
          <a:solidFill>
            <a:srgbClr val="B0603F"/>
          </a:solidFill>
          <a:ln w="12700">
            <a:solidFill>
              <a:srgbClr val="B0603F"/>
            </a:solidFill>
            <a:prstDash val="solid"/>
          </a:ln>
        </p:spPr>
      </p:sp>
      <p:sp>
        <p:nvSpPr>
          <p:cNvPr id="23" name="Text 17"/>
          <p:cNvSpPr txBox="1"/>
          <p:nvPr/>
        </p:nvSpPr>
        <p:spPr>
          <a:xfrm>
            <a:off x="457200" y="4370832"/>
            <a:ext cx="2011680" cy="274320"/>
          </a:xfrm>
          <a:prstGeom prst="rect">
            <a:avLst/>
          </a:prstGeom>
          <a:noFill/>
          <a:ln/>
        </p:spPr>
        <p:txBody>
          <a:bodyPr wrap="square" lIns="0" tIns="0" rIns="0" bIns="0" rtlCol="0" anchor="t"/>
          <a:lstStyle/>
          <a:p>
            <a:pPr algn="ctr" indent="0" marL="0">
              <a:buNone/>
            </a:pPr>
            <a:r>
              <a:rPr lang="en-US" sz="1100" b="1" dirty="0">
                <a:solidFill>
                  <a:srgbClr val="B0603F"/>
                </a:solidFill>
                <a:latin typeface="Calibri" pitchFamily="34" charset="0"/>
                <a:ea typeface="Calibri" pitchFamily="34" charset="-122"/>
                <a:cs typeface="Calibri" pitchFamily="34" charset="-120"/>
              </a:rPr>
              <a:t>1991  </a:t>
            </a:r>
            <a:pPr algn="ctr" indent="0" marL="0">
              <a:buNone/>
            </a:pPr>
            <a:r>
              <a:rPr lang="en-US" sz="1100" dirty="0">
                <a:solidFill>
                  <a:srgbClr val="65523F"/>
                </a:solidFill>
                <a:latin typeface="Calibri" pitchFamily="34" charset="0"/>
                <a:ea typeface="Calibri" pitchFamily="34" charset="-122"/>
                <a:cs typeface="Calibri" pitchFamily="34" charset="-120"/>
              </a:rPr>
              <a:t>PGP by Phil Zimmermann</a:t>
            </a:r>
            <a:endParaRPr lang="en-US" sz="1100" dirty="0"/>
          </a:p>
        </p:txBody>
      </p:sp>
      <p:sp>
        <p:nvSpPr>
          <p:cNvPr id="24" name="Shape 18"/>
          <p:cNvSpPr/>
          <p:nvPr/>
        </p:nvSpPr>
        <p:spPr>
          <a:xfrm>
            <a:off x="4498848" y="4151376"/>
            <a:ext cx="146304" cy="146304"/>
          </a:xfrm>
          <a:prstGeom prst="ellipse">
            <a:avLst/>
          </a:prstGeom>
          <a:solidFill>
            <a:srgbClr val="B0603F"/>
          </a:solidFill>
          <a:ln w="12700">
            <a:solidFill>
              <a:srgbClr val="B0603F"/>
            </a:solidFill>
            <a:prstDash val="solid"/>
          </a:ln>
        </p:spPr>
      </p:sp>
      <p:sp>
        <p:nvSpPr>
          <p:cNvPr id="25" name="Text 19"/>
          <p:cNvSpPr txBox="1"/>
          <p:nvPr/>
        </p:nvSpPr>
        <p:spPr>
          <a:xfrm>
            <a:off x="3566160" y="4370832"/>
            <a:ext cx="2011680" cy="274320"/>
          </a:xfrm>
          <a:prstGeom prst="rect">
            <a:avLst/>
          </a:prstGeom>
          <a:noFill/>
          <a:ln/>
        </p:spPr>
        <p:txBody>
          <a:bodyPr wrap="square" lIns="0" tIns="0" rIns="0" bIns="0" rtlCol="0" anchor="t"/>
          <a:lstStyle/>
          <a:p>
            <a:pPr algn="ctr" indent="0" marL="0">
              <a:buNone/>
            </a:pPr>
            <a:r>
              <a:rPr lang="en-US" sz="1100" b="1" dirty="0">
                <a:solidFill>
                  <a:srgbClr val="B0603F"/>
                </a:solidFill>
                <a:latin typeface="Calibri" pitchFamily="34" charset="0"/>
                <a:ea typeface="Calibri" pitchFamily="34" charset="-122"/>
                <a:cs typeface="Calibri" pitchFamily="34" charset="-120"/>
              </a:rPr>
              <a:t>1998  </a:t>
            </a:r>
            <a:pPr algn="ctr" indent="0" marL="0">
              <a:buNone/>
            </a:pPr>
            <a:r>
              <a:rPr lang="en-US" sz="1100" dirty="0">
                <a:solidFill>
                  <a:srgbClr val="65523F"/>
                </a:solidFill>
                <a:latin typeface="Calibri" pitchFamily="34" charset="0"/>
                <a:ea typeface="Calibri" pitchFamily="34" charset="-122"/>
                <a:cs typeface="Calibri" pitchFamily="34" charset="-120"/>
              </a:rPr>
              <a:t>OpenPGP open standard</a:t>
            </a:r>
            <a:endParaRPr lang="en-US" sz="1100" dirty="0"/>
          </a:p>
        </p:txBody>
      </p:sp>
      <p:sp>
        <p:nvSpPr>
          <p:cNvPr id="26" name="Shape 20"/>
          <p:cNvSpPr/>
          <p:nvPr/>
        </p:nvSpPr>
        <p:spPr>
          <a:xfrm>
            <a:off x="7607808" y="4151376"/>
            <a:ext cx="146304" cy="146304"/>
          </a:xfrm>
          <a:prstGeom prst="ellipse">
            <a:avLst/>
          </a:prstGeom>
          <a:solidFill>
            <a:srgbClr val="B0603F"/>
          </a:solidFill>
          <a:ln w="12700">
            <a:solidFill>
              <a:srgbClr val="B0603F"/>
            </a:solidFill>
            <a:prstDash val="solid"/>
          </a:ln>
        </p:spPr>
      </p:sp>
      <p:sp>
        <p:nvSpPr>
          <p:cNvPr id="27" name="Text 21"/>
          <p:cNvSpPr txBox="1"/>
          <p:nvPr/>
        </p:nvSpPr>
        <p:spPr>
          <a:xfrm>
            <a:off x="6675120" y="4370832"/>
            <a:ext cx="2011680" cy="274320"/>
          </a:xfrm>
          <a:prstGeom prst="rect">
            <a:avLst/>
          </a:prstGeom>
          <a:noFill/>
          <a:ln/>
        </p:spPr>
        <p:txBody>
          <a:bodyPr wrap="square" lIns="0" tIns="0" rIns="0" bIns="0" rtlCol="0" anchor="t"/>
          <a:lstStyle/>
          <a:p>
            <a:pPr algn="ctr" indent="0" marL="0">
              <a:buNone/>
            </a:pPr>
            <a:r>
              <a:rPr lang="en-US" sz="1100" b="1" dirty="0">
                <a:solidFill>
                  <a:srgbClr val="B0603F"/>
                </a:solidFill>
                <a:latin typeface="Calibri" pitchFamily="34" charset="0"/>
                <a:ea typeface="Calibri" pitchFamily="34" charset="-122"/>
                <a:cs typeface="Calibri" pitchFamily="34" charset="-120"/>
              </a:rPr>
              <a:t>2024  </a:t>
            </a:r>
            <a:pPr algn="ctr" indent="0" marL="0">
              <a:buNone/>
            </a:pPr>
            <a:r>
              <a:rPr lang="en-US" sz="1100" dirty="0">
                <a:solidFill>
                  <a:srgbClr val="65523F"/>
                </a:solidFill>
                <a:latin typeface="Calibri" pitchFamily="34" charset="0"/>
                <a:ea typeface="Calibri" pitchFamily="34" charset="-122"/>
                <a:cs typeface="Calibri" pitchFamily="34" charset="-120"/>
              </a:rPr>
              <a:t>RFC 9580 (used today)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8F3"/>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t"/>
          <a:lstStyle/>
          <a:p>
            <a:pPr indent="0" marL="0">
              <a:buNone/>
            </a:pPr>
            <a:r>
              <a:rPr lang="en-US" sz="3400" b="1" dirty="0">
                <a:solidFill>
                  <a:srgbClr val="4A3B30"/>
                </a:solidFill>
                <a:latin typeface="Cambria" pitchFamily="34" charset="0"/>
                <a:ea typeface="Cambria" pitchFamily="34" charset="-122"/>
                <a:cs typeface="Cambria" pitchFamily="34" charset="-120"/>
              </a:rPr>
              <a:t>How CipherChat uses PGP</a:t>
            </a:r>
            <a:endParaRPr lang="en-US" sz="3400" dirty="0"/>
          </a:p>
        </p:txBody>
      </p:sp>
      <p:sp>
        <p:nvSpPr>
          <p:cNvPr id="3" name="Shape 1"/>
          <p:cNvSpPr/>
          <p:nvPr/>
        </p:nvSpPr>
        <p:spPr>
          <a:xfrm>
            <a:off x="941832" y="1188720"/>
            <a:ext cx="768096" cy="768096"/>
          </a:xfrm>
          <a:prstGeom prst="ellipse">
            <a:avLst/>
          </a:prstGeom>
          <a:solidFill>
            <a:srgbClr val="F3E1D6"/>
          </a:solidFill>
          <a:ln w="12700">
            <a:solidFill>
              <a:srgbClr val="F3E1D6"/>
            </a:solidFill>
            <a:prstDash val="solid"/>
          </a:ln>
        </p:spPr>
      </p:sp>
      <p:pic>
        <p:nvPicPr>
          <p:cNvPr id="4" name="Image 0" descr="preencoded.png">    </p:cNvPr>
          <p:cNvPicPr>
            <a:picLocks noChangeAspect="1"/>
          </p:cNvPicPr>
          <p:nvPr/>
        </p:nvPicPr>
        <p:blipFill>
          <a:blip r:embed="rId1"/>
          <a:stretch>
            <a:fillRect/>
          </a:stretch>
        </p:blipFill>
        <p:spPr>
          <a:xfrm>
            <a:off x="1133856" y="1380744"/>
            <a:ext cx="384048" cy="384048"/>
          </a:xfrm>
          <a:prstGeom prst="rect">
            <a:avLst/>
          </a:prstGeom>
        </p:spPr>
      </p:pic>
      <p:sp>
        <p:nvSpPr>
          <p:cNvPr id="5" name="Shape 2"/>
          <p:cNvSpPr/>
          <p:nvPr/>
        </p:nvSpPr>
        <p:spPr>
          <a:xfrm>
            <a:off x="1828800" y="1572768"/>
            <a:ext cx="1161288" cy="0"/>
          </a:xfrm>
          <a:prstGeom prst="line">
            <a:avLst/>
          </a:prstGeom>
          <a:noFill/>
          <a:ln w="19050">
            <a:solidFill>
              <a:srgbClr val="8A7462"/>
            </a:solidFill>
            <a:prstDash val="solid"/>
            <a:tailEnd type="triangle"/>
          </a:ln>
        </p:spPr>
      </p:sp>
      <p:sp>
        <p:nvSpPr>
          <p:cNvPr id="6" name="Text 3"/>
          <p:cNvSpPr txBox="1"/>
          <p:nvPr/>
        </p:nvSpPr>
        <p:spPr>
          <a:xfrm>
            <a:off x="320040" y="2057400"/>
            <a:ext cx="2011680" cy="320040"/>
          </a:xfrm>
          <a:prstGeom prst="rect">
            <a:avLst/>
          </a:prstGeom>
          <a:noFill/>
          <a:ln/>
        </p:spPr>
        <p:txBody>
          <a:bodyPr wrap="square" lIns="0" tIns="0" rIns="0" bIns="0" rtlCol="0" anchor="t"/>
          <a:lstStyle/>
          <a:p>
            <a:pPr algn="ctr" indent="0" marL="0">
              <a:buNone/>
            </a:pPr>
            <a:r>
              <a:rPr lang="en-US" sz="1400" b="1" dirty="0">
                <a:solidFill>
                  <a:srgbClr val="4A3B30"/>
                </a:solidFill>
                <a:latin typeface="Calibri" pitchFamily="34" charset="0"/>
                <a:ea typeface="Calibri" pitchFamily="34" charset="-122"/>
                <a:cs typeface="Calibri" pitchFamily="34" charset="-120"/>
              </a:rPr>
              <a:t>Create account</a:t>
            </a:r>
            <a:endParaRPr lang="en-US" sz="1400" dirty="0"/>
          </a:p>
        </p:txBody>
      </p:sp>
      <p:sp>
        <p:nvSpPr>
          <p:cNvPr id="7" name="Text 4"/>
          <p:cNvSpPr txBox="1"/>
          <p:nvPr/>
        </p:nvSpPr>
        <p:spPr>
          <a:xfrm>
            <a:off x="365760" y="2395728"/>
            <a:ext cx="1920240" cy="685800"/>
          </a:xfrm>
          <a:prstGeom prst="rect">
            <a:avLst/>
          </a:prstGeom>
          <a:noFill/>
          <a:ln/>
        </p:spPr>
        <p:txBody>
          <a:bodyPr wrap="square" lIns="0" tIns="0" rIns="0" bIns="0" rtlCol="0" anchor="t"/>
          <a:lstStyle/>
          <a:p>
            <a:pPr algn="ctr" indent="0" marL="0">
              <a:buNone/>
            </a:pPr>
            <a:r>
              <a:rPr lang="en-US" sz="1100" dirty="0">
                <a:solidFill>
                  <a:srgbClr val="65523F"/>
                </a:solidFill>
                <a:latin typeface="Calibri" pitchFamily="34" charset="0"/>
                <a:ea typeface="Calibri" pitchFamily="34" charset="-122"/>
                <a:cs typeface="Calibri" pitchFamily="34" charset="-120"/>
              </a:rPr>
              <a:t>Password to sign in, plus a separate key passphrase</a:t>
            </a:r>
            <a:endParaRPr lang="en-US" sz="1100" dirty="0"/>
          </a:p>
        </p:txBody>
      </p:sp>
      <p:sp>
        <p:nvSpPr>
          <p:cNvPr id="8" name="Shape 5"/>
          <p:cNvSpPr/>
          <p:nvPr/>
        </p:nvSpPr>
        <p:spPr>
          <a:xfrm>
            <a:off x="3108960" y="1188720"/>
            <a:ext cx="768096" cy="768096"/>
          </a:xfrm>
          <a:prstGeom prst="ellipse">
            <a:avLst/>
          </a:prstGeom>
          <a:solidFill>
            <a:srgbClr val="F3E1D6"/>
          </a:solidFill>
          <a:ln w="12700">
            <a:solidFill>
              <a:srgbClr val="F3E1D6"/>
            </a:solidFill>
            <a:prstDash val="solid"/>
          </a:ln>
        </p:spPr>
      </p:sp>
      <p:pic>
        <p:nvPicPr>
          <p:cNvPr id="9" name="Image 1" descr="preencoded.png">    </p:cNvPr>
          <p:cNvPicPr>
            <a:picLocks noChangeAspect="1"/>
          </p:cNvPicPr>
          <p:nvPr/>
        </p:nvPicPr>
        <p:blipFill>
          <a:blip r:embed="rId2"/>
          <a:stretch>
            <a:fillRect/>
          </a:stretch>
        </p:blipFill>
        <p:spPr>
          <a:xfrm>
            <a:off x="3300984" y="1380744"/>
            <a:ext cx="384048" cy="384048"/>
          </a:xfrm>
          <a:prstGeom prst="rect">
            <a:avLst/>
          </a:prstGeom>
        </p:spPr>
      </p:pic>
      <p:sp>
        <p:nvSpPr>
          <p:cNvPr id="10" name="Shape 6"/>
          <p:cNvSpPr/>
          <p:nvPr/>
        </p:nvSpPr>
        <p:spPr>
          <a:xfrm>
            <a:off x="3995928" y="1572768"/>
            <a:ext cx="1152144" cy="0"/>
          </a:xfrm>
          <a:prstGeom prst="line">
            <a:avLst/>
          </a:prstGeom>
          <a:noFill/>
          <a:ln w="19050">
            <a:solidFill>
              <a:srgbClr val="8A7462"/>
            </a:solidFill>
            <a:prstDash val="solid"/>
            <a:tailEnd type="triangle"/>
          </a:ln>
        </p:spPr>
      </p:sp>
      <p:sp>
        <p:nvSpPr>
          <p:cNvPr id="11" name="Text 7"/>
          <p:cNvSpPr txBox="1"/>
          <p:nvPr/>
        </p:nvSpPr>
        <p:spPr>
          <a:xfrm>
            <a:off x="2487168" y="2057400"/>
            <a:ext cx="2011680" cy="320040"/>
          </a:xfrm>
          <a:prstGeom prst="rect">
            <a:avLst/>
          </a:prstGeom>
          <a:noFill/>
          <a:ln/>
        </p:spPr>
        <p:txBody>
          <a:bodyPr wrap="square" lIns="0" tIns="0" rIns="0" bIns="0" rtlCol="0" anchor="t"/>
          <a:lstStyle/>
          <a:p>
            <a:pPr algn="ctr" indent="0" marL="0">
              <a:buNone/>
            </a:pPr>
            <a:r>
              <a:rPr lang="en-US" sz="1400" b="1" dirty="0">
                <a:solidFill>
                  <a:srgbClr val="4A3B30"/>
                </a:solidFill>
                <a:latin typeface="Calibri" pitchFamily="34" charset="0"/>
                <a:ea typeface="Calibri" pitchFamily="34" charset="-122"/>
                <a:cs typeface="Calibri" pitchFamily="34" charset="-120"/>
              </a:rPr>
              <a:t>Keys made in browser</a:t>
            </a:r>
            <a:endParaRPr lang="en-US" sz="1400" dirty="0"/>
          </a:p>
        </p:txBody>
      </p:sp>
      <p:sp>
        <p:nvSpPr>
          <p:cNvPr id="12" name="Text 8"/>
          <p:cNvSpPr txBox="1"/>
          <p:nvPr/>
        </p:nvSpPr>
        <p:spPr>
          <a:xfrm>
            <a:off x="2532888" y="2395728"/>
            <a:ext cx="1920240" cy="685800"/>
          </a:xfrm>
          <a:prstGeom prst="rect">
            <a:avLst/>
          </a:prstGeom>
          <a:noFill/>
          <a:ln/>
        </p:spPr>
        <p:txBody>
          <a:bodyPr wrap="square" lIns="0" tIns="0" rIns="0" bIns="0" rtlCol="0" anchor="t"/>
          <a:lstStyle/>
          <a:p>
            <a:pPr algn="ctr" indent="0" marL="0">
              <a:buNone/>
            </a:pPr>
            <a:r>
              <a:rPr lang="en-US" sz="1100" dirty="0">
                <a:solidFill>
                  <a:srgbClr val="65523F"/>
                </a:solidFill>
                <a:latin typeface="Calibri" pitchFamily="34" charset="0"/>
                <a:ea typeface="Calibri" pitchFamily="34" charset="-122"/>
                <a:cs typeface="Calibri" pitchFamily="34" charset="-120"/>
              </a:rPr>
              <a:t>Only the public key is uploaded; the private key stays locked on the device</a:t>
            </a:r>
            <a:endParaRPr lang="en-US" sz="1100" dirty="0"/>
          </a:p>
        </p:txBody>
      </p:sp>
      <p:sp>
        <p:nvSpPr>
          <p:cNvPr id="13" name="Shape 9"/>
          <p:cNvSpPr/>
          <p:nvPr/>
        </p:nvSpPr>
        <p:spPr>
          <a:xfrm>
            <a:off x="5266944" y="1188720"/>
            <a:ext cx="768096" cy="768096"/>
          </a:xfrm>
          <a:prstGeom prst="ellipse">
            <a:avLst/>
          </a:prstGeom>
          <a:solidFill>
            <a:srgbClr val="F3E1D6"/>
          </a:solidFill>
          <a:ln w="12700">
            <a:solidFill>
              <a:srgbClr val="F3E1D6"/>
            </a:solidFill>
            <a:prstDash val="solid"/>
          </a:ln>
        </p:spPr>
      </p:sp>
      <p:pic>
        <p:nvPicPr>
          <p:cNvPr id="14" name="Image 2" descr="preencoded.png">    </p:cNvPr>
          <p:cNvPicPr>
            <a:picLocks noChangeAspect="1"/>
          </p:cNvPicPr>
          <p:nvPr/>
        </p:nvPicPr>
        <p:blipFill>
          <a:blip r:embed="rId3"/>
          <a:stretch>
            <a:fillRect/>
          </a:stretch>
        </p:blipFill>
        <p:spPr>
          <a:xfrm>
            <a:off x="5458968" y="1380744"/>
            <a:ext cx="384048" cy="384048"/>
          </a:xfrm>
          <a:prstGeom prst="rect">
            <a:avLst/>
          </a:prstGeom>
        </p:spPr>
      </p:pic>
      <p:sp>
        <p:nvSpPr>
          <p:cNvPr id="15" name="Shape 10"/>
          <p:cNvSpPr/>
          <p:nvPr/>
        </p:nvSpPr>
        <p:spPr>
          <a:xfrm>
            <a:off x="6153912" y="1572768"/>
            <a:ext cx="1161288" cy="0"/>
          </a:xfrm>
          <a:prstGeom prst="line">
            <a:avLst/>
          </a:prstGeom>
          <a:noFill/>
          <a:ln w="19050">
            <a:solidFill>
              <a:srgbClr val="8A7462"/>
            </a:solidFill>
            <a:prstDash val="solid"/>
            <a:tailEnd type="triangle"/>
          </a:ln>
        </p:spPr>
      </p:sp>
      <p:sp>
        <p:nvSpPr>
          <p:cNvPr id="16" name="Text 11"/>
          <p:cNvSpPr txBox="1"/>
          <p:nvPr/>
        </p:nvSpPr>
        <p:spPr>
          <a:xfrm>
            <a:off x="4645152" y="2057400"/>
            <a:ext cx="2011680" cy="320040"/>
          </a:xfrm>
          <a:prstGeom prst="rect">
            <a:avLst/>
          </a:prstGeom>
          <a:noFill/>
          <a:ln/>
        </p:spPr>
        <p:txBody>
          <a:bodyPr wrap="square" lIns="0" tIns="0" rIns="0" bIns="0" rtlCol="0" anchor="t"/>
          <a:lstStyle/>
          <a:p>
            <a:pPr algn="ctr" indent="0" marL="0">
              <a:buNone/>
            </a:pPr>
            <a:r>
              <a:rPr lang="en-US" sz="1400" b="1" dirty="0">
                <a:solidFill>
                  <a:srgbClr val="4A3B30"/>
                </a:solidFill>
                <a:latin typeface="Calibri" pitchFamily="34" charset="0"/>
                <a:ea typeface="Calibri" pitchFamily="34" charset="-122"/>
                <a:cs typeface="Calibri" pitchFamily="34" charset="-120"/>
              </a:rPr>
              <a:t>Encrypt + sign</a:t>
            </a:r>
            <a:endParaRPr lang="en-US" sz="1400" dirty="0"/>
          </a:p>
        </p:txBody>
      </p:sp>
      <p:sp>
        <p:nvSpPr>
          <p:cNvPr id="17" name="Text 12"/>
          <p:cNvSpPr txBox="1"/>
          <p:nvPr/>
        </p:nvSpPr>
        <p:spPr>
          <a:xfrm>
            <a:off x="4690872" y="2395728"/>
            <a:ext cx="1920240" cy="685800"/>
          </a:xfrm>
          <a:prstGeom prst="rect">
            <a:avLst/>
          </a:prstGeom>
          <a:noFill/>
          <a:ln/>
        </p:spPr>
        <p:txBody>
          <a:bodyPr wrap="square" lIns="0" tIns="0" rIns="0" bIns="0" rtlCol="0" anchor="t"/>
          <a:lstStyle/>
          <a:p>
            <a:pPr algn="ctr" indent="0" marL="0">
              <a:buNone/>
            </a:pPr>
            <a:r>
              <a:rPr lang="en-US" sz="1100" dirty="0">
                <a:solidFill>
                  <a:srgbClr val="65523F"/>
                </a:solidFill>
                <a:latin typeface="Calibri" pitchFamily="34" charset="0"/>
                <a:ea typeface="Calibri" pitchFamily="34" charset="-122"/>
                <a:cs typeface="Calibri" pitchFamily="34" charset="-120"/>
              </a:rPr>
              <a:t>Message or file locked for receiver and sender, signed by sender</a:t>
            </a:r>
            <a:endParaRPr lang="en-US" sz="1100" dirty="0"/>
          </a:p>
        </p:txBody>
      </p:sp>
      <p:sp>
        <p:nvSpPr>
          <p:cNvPr id="18" name="Shape 13"/>
          <p:cNvSpPr/>
          <p:nvPr/>
        </p:nvSpPr>
        <p:spPr>
          <a:xfrm>
            <a:off x="7434072" y="1188720"/>
            <a:ext cx="768096" cy="768096"/>
          </a:xfrm>
          <a:prstGeom prst="ellipse">
            <a:avLst/>
          </a:prstGeom>
          <a:solidFill>
            <a:srgbClr val="F3E1D6"/>
          </a:solidFill>
          <a:ln w="12700">
            <a:solidFill>
              <a:srgbClr val="F3E1D6"/>
            </a:solidFill>
            <a:prstDash val="solid"/>
          </a:ln>
        </p:spPr>
      </p:sp>
      <p:pic>
        <p:nvPicPr>
          <p:cNvPr id="19" name="Image 3" descr="preencoded.png">    </p:cNvPr>
          <p:cNvPicPr>
            <a:picLocks noChangeAspect="1"/>
          </p:cNvPicPr>
          <p:nvPr/>
        </p:nvPicPr>
        <p:blipFill>
          <a:blip r:embed="rId4"/>
          <a:stretch>
            <a:fillRect/>
          </a:stretch>
        </p:blipFill>
        <p:spPr>
          <a:xfrm>
            <a:off x="7626096" y="1380744"/>
            <a:ext cx="384048" cy="384048"/>
          </a:xfrm>
          <a:prstGeom prst="rect">
            <a:avLst/>
          </a:prstGeom>
        </p:spPr>
      </p:pic>
      <p:sp>
        <p:nvSpPr>
          <p:cNvPr id="20" name="Text 14"/>
          <p:cNvSpPr txBox="1"/>
          <p:nvPr/>
        </p:nvSpPr>
        <p:spPr>
          <a:xfrm>
            <a:off x="6812280" y="2057400"/>
            <a:ext cx="2011680" cy="320040"/>
          </a:xfrm>
          <a:prstGeom prst="rect">
            <a:avLst/>
          </a:prstGeom>
          <a:noFill/>
          <a:ln/>
        </p:spPr>
        <p:txBody>
          <a:bodyPr wrap="square" lIns="0" tIns="0" rIns="0" bIns="0" rtlCol="0" anchor="t"/>
          <a:lstStyle/>
          <a:p>
            <a:pPr algn="ctr" indent="0" marL="0">
              <a:buNone/>
            </a:pPr>
            <a:r>
              <a:rPr lang="en-US" sz="1400" b="1" dirty="0">
                <a:solidFill>
                  <a:srgbClr val="4A3B30"/>
                </a:solidFill>
                <a:latin typeface="Calibri" pitchFamily="34" charset="0"/>
                <a:ea typeface="Calibri" pitchFamily="34" charset="-122"/>
                <a:cs typeface="Calibri" pitchFamily="34" charset="-120"/>
              </a:rPr>
              <a:t>Decrypt + ✓ Verified</a:t>
            </a:r>
            <a:endParaRPr lang="en-US" sz="1400" dirty="0"/>
          </a:p>
        </p:txBody>
      </p:sp>
      <p:sp>
        <p:nvSpPr>
          <p:cNvPr id="21" name="Text 15"/>
          <p:cNvSpPr txBox="1"/>
          <p:nvPr/>
        </p:nvSpPr>
        <p:spPr>
          <a:xfrm>
            <a:off x="6858000" y="2395728"/>
            <a:ext cx="1920240" cy="685800"/>
          </a:xfrm>
          <a:prstGeom prst="rect">
            <a:avLst/>
          </a:prstGeom>
          <a:noFill/>
          <a:ln/>
        </p:spPr>
        <p:txBody>
          <a:bodyPr wrap="square" lIns="0" tIns="0" rIns="0" bIns="0" rtlCol="0" anchor="t"/>
          <a:lstStyle/>
          <a:p>
            <a:pPr algn="ctr" indent="0" marL="0">
              <a:buNone/>
            </a:pPr>
            <a:r>
              <a:rPr lang="en-US" sz="1100" dirty="0">
                <a:solidFill>
                  <a:srgbClr val="65523F"/>
                </a:solidFill>
                <a:latin typeface="Calibri" pitchFamily="34" charset="0"/>
                <a:ea typeface="Calibri" pitchFamily="34" charset="-122"/>
                <a:cs typeface="Calibri" pitchFamily="34" charset="-120"/>
              </a:rPr>
              <a:t>Receiver’s browser unlocks it and checks the signature</a:t>
            </a:r>
            <a:endParaRPr lang="en-US" sz="1100" dirty="0"/>
          </a:p>
        </p:txBody>
      </p:sp>
      <p:sp>
        <p:nvSpPr>
          <p:cNvPr id="22" name="Shape 16"/>
          <p:cNvSpPr/>
          <p:nvPr/>
        </p:nvSpPr>
        <p:spPr>
          <a:xfrm>
            <a:off x="457200" y="3291840"/>
            <a:ext cx="8229600" cy="1325880"/>
          </a:xfrm>
          <a:prstGeom prst="roundRect">
            <a:avLst>
              <a:gd name="adj" fmla="val 827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23" name="Shape 17"/>
          <p:cNvSpPr/>
          <p:nvPr/>
        </p:nvSpPr>
        <p:spPr>
          <a:xfrm>
            <a:off x="685800" y="3611880"/>
            <a:ext cx="685800" cy="685800"/>
          </a:xfrm>
          <a:prstGeom prst="ellipse">
            <a:avLst/>
          </a:prstGeom>
          <a:solidFill>
            <a:srgbClr val="F3E1D6"/>
          </a:solidFill>
          <a:ln w="12700">
            <a:solidFill>
              <a:srgbClr val="F3E1D6"/>
            </a:solidFill>
            <a:prstDash val="solid"/>
          </a:ln>
        </p:spPr>
      </p:sp>
      <p:pic>
        <p:nvPicPr>
          <p:cNvPr id="24" name="Image 4" descr="preencoded.png">    </p:cNvPr>
          <p:cNvPicPr>
            <a:picLocks noChangeAspect="1"/>
          </p:cNvPicPr>
          <p:nvPr/>
        </p:nvPicPr>
        <p:blipFill>
          <a:blip r:embed="rId5"/>
          <a:stretch>
            <a:fillRect/>
          </a:stretch>
        </p:blipFill>
        <p:spPr>
          <a:xfrm>
            <a:off x="857250" y="3783330"/>
            <a:ext cx="342900" cy="342900"/>
          </a:xfrm>
          <a:prstGeom prst="rect">
            <a:avLst/>
          </a:prstGeom>
        </p:spPr>
      </p:pic>
      <p:sp>
        <p:nvSpPr>
          <p:cNvPr id="25" name="Text 18"/>
          <p:cNvSpPr txBox="1"/>
          <p:nvPr/>
        </p:nvSpPr>
        <p:spPr>
          <a:xfrm>
            <a:off x="1554480" y="3520440"/>
            <a:ext cx="3840480" cy="365760"/>
          </a:xfrm>
          <a:prstGeom prst="rect">
            <a:avLst/>
          </a:prstGeom>
          <a:noFill/>
          <a:ln/>
        </p:spPr>
        <p:txBody>
          <a:bodyPr wrap="square" lIns="0" tIns="0" rIns="0" bIns="0" rtlCol="0" anchor="t"/>
          <a:lstStyle/>
          <a:p>
            <a:pPr indent="0" marL="0">
              <a:buNone/>
            </a:pPr>
            <a:r>
              <a:rPr lang="en-US" sz="1600" b="1" dirty="0">
                <a:solidFill>
                  <a:srgbClr val="B0603F"/>
                </a:solidFill>
                <a:latin typeface="Cambria" pitchFamily="34" charset="0"/>
                <a:ea typeface="Cambria" pitchFamily="34" charset="-122"/>
                <a:cs typeface="Cambria" pitchFamily="34" charset="-120"/>
              </a:rPr>
              <a:t>The server only sees scrambled text</a:t>
            </a:r>
            <a:endParaRPr lang="en-US" sz="1600" dirty="0"/>
          </a:p>
        </p:txBody>
      </p:sp>
      <p:sp>
        <p:nvSpPr>
          <p:cNvPr id="26" name="Text 19"/>
          <p:cNvSpPr txBox="1"/>
          <p:nvPr/>
        </p:nvSpPr>
        <p:spPr>
          <a:xfrm>
            <a:off x="1554480" y="3931920"/>
            <a:ext cx="3749040" cy="548640"/>
          </a:xfrm>
          <a:prstGeom prst="rect">
            <a:avLst/>
          </a:prstGeom>
          <a:noFill/>
          <a:ln/>
        </p:spPr>
        <p:txBody>
          <a:bodyPr wrap="square" lIns="0" tIns="0" rIns="0" bIns="0" rtlCol="0" anchor="t"/>
          <a:lstStyle/>
          <a:p>
            <a:pPr indent="0" marL="0">
              <a:buNone/>
            </a:pPr>
            <a:r>
              <a:rPr lang="en-US" sz="1200" dirty="0">
                <a:solidFill>
                  <a:srgbClr val="65523F"/>
                </a:solidFill>
                <a:latin typeface="Calibri" pitchFamily="34" charset="0"/>
                <a:ea typeface="Calibri" pitchFamily="34" charset="-122"/>
                <a:cs typeface="Calibri" pitchFamily="34" charset="-120"/>
              </a:rPr>
              <a:t>It checks the ciphertext with BouncyCastle, stores it and pushes it over WebSocket. It never decrypts.</a:t>
            </a:r>
            <a:endParaRPr lang="en-US" sz="1200" dirty="0"/>
          </a:p>
        </p:txBody>
      </p:sp>
      <p:sp>
        <p:nvSpPr>
          <p:cNvPr id="27" name="Shape 20"/>
          <p:cNvSpPr/>
          <p:nvPr/>
        </p:nvSpPr>
        <p:spPr>
          <a:xfrm>
            <a:off x="5486400" y="3520440"/>
            <a:ext cx="2971800" cy="868680"/>
          </a:xfrm>
          <a:prstGeom prst="roundRect">
            <a:avLst>
              <a:gd name="adj" fmla="val 8421"/>
            </a:avLst>
          </a:prstGeom>
          <a:solidFill>
            <a:srgbClr val="F5EEE4"/>
          </a:solidFill>
          <a:ln w="12700">
            <a:solidFill>
              <a:srgbClr val="E6DCCD"/>
            </a:solidFill>
            <a:prstDash val="solid"/>
          </a:ln>
        </p:spPr>
      </p:sp>
      <p:sp>
        <p:nvSpPr>
          <p:cNvPr id="28" name="Text 21"/>
          <p:cNvSpPr txBox="1"/>
          <p:nvPr/>
        </p:nvSpPr>
        <p:spPr>
          <a:xfrm>
            <a:off x="5623560" y="3566160"/>
            <a:ext cx="2743200" cy="777240"/>
          </a:xfrm>
          <a:prstGeom prst="rect">
            <a:avLst/>
          </a:prstGeom>
          <a:noFill/>
          <a:ln/>
        </p:spPr>
        <p:txBody>
          <a:bodyPr wrap="square" lIns="0" tIns="0" rIns="0" bIns="0" rtlCol="0" anchor="ctr"/>
          <a:lstStyle/>
          <a:p>
            <a:pPr indent="0" marL="0">
              <a:buNone/>
            </a:pPr>
            <a:r>
              <a:rPr lang="en-US" sz="900" dirty="0">
                <a:solidFill>
                  <a:srgbClr val="65523F"/>
                </a:solidFill>
                <a:latin typeface="Courier New" pitchFamily="34" charset="0"/>
                <a:ea typeface="Courier New" pitchFamily="34" charset="-122"/>
                <a:cs typeface="Courier New" pitchFamily="34" charset="-120"/>
              </a:rPr>
              <a:t>-----BEGIN PGP MESSAGE-----</a:t>
            </a:r>
            <a:endParaRPr lang="en-US" sz="900" dirty="0"/>
          </a:p>
          <a:p>
            <a:pPr indent="0" marL="0">
              <a:buNone/>
            </a:pPr>
            <a:r>
              <a:rPr lang="en-US" sz="900" dirty="0">
                <a:solidFill>
                  <a:srgbClr val="65523F"/>
                </a:solidFill>
                <a:latin typeface="Courier New" pitchFamily="34" charset="0"/>
                <a:ea typeface="Courier New" pitchFamily="34" charset="-122"/>
                <a:cs typeface="Courier New" pitchFamily="34" charset="-120"/>
              </a:rPr>
              <a:t>wV4D9v78+ubzcX8SAQdA/uZ1c…</a:t>
            </a:r>
            <a:endParaRPr lang="en-US" sz="900" dirty="0"/>
          </a:p>
          <a:p>
            <a:pPr indent="0" marL="0">
              <a:buNone/>
            </a:pPr>
            <a:r>
              <a:rPr lang="en-US" sz="900" dirty="0">
                <a:solidFill>
                  <a:srgbClr val="65523F"/>
                </a:solidFill>
                <a:latin typeface="Courier New" pitchFamily="34" charset="0"/>
                <a:ea typeface="Courier New" pitchFamily="34" charset="-122"/>
                <a:cs typeface="Courier New" pitchFamily="34" charset="-120"/>
              </a:rPr>
              <a:t>-----END PGP MESSAGE-----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3"/>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t"/>
          <a:lstStyle/>
          <a:p>
            <a:pPr indent="0" marL="0">
              <a:buNone/>
            </a:pPr>
            <a:r>
              <a:rPr lang="en-US" sz="3400" b="1" dirty="0">
                <a:solidFill>
                  <a:srgbClr val="4A3B30"/>
                </a:solidFill>
                <a:latin typeface="Cambria" pitchFamily="34" charset="0"/>
                <a:ea typeface="Cambria" pitchFamily="34" charset="-122"/>
                <a:cs typeface="Cambria" pitchFamily="34" charset="-120"/>
              </a:rPr>
              <a:t>Technologies and why</a:t>
            </a:r>
            <a:endParaRPr lang="en-US" sz="3400" dirty="0"/>
          </a:p>
        </p:txBody>
      </p:sp>
      <p:sp>
        <p:nvSpPr>
          <p:cNvPr id="3" name="Shape 1"/>
          <p:cNvSpPr/>
          <p:nvPr/>
        </p:nvSpPr>
        <p:spPr>
          <a:xfrm>
            <a:off x="457200" y="1097280"/>
            <a:ext cx="1920240" cy="1691640"/>
          </a:xfrm>
          <a:prstGeom prst="roundRect">
            <a:avLst>
              <a:gd name="adj" fmla="val 648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4" name="Shape 2"/>
          <p:cNvSpPr/>
          <p:nvPr/>
        </p:nvSpPr>
        <p:spPr>
          <a:xfrm>
            <a:off x="640080" y="1280160"/>
            <a:ext cx="475488" cy="475488"/>
          </a:xfrm>
          <a:prstGeom prst="ellipse">
            <a:avLst/>
          </a:prstGeom>
          <a:solidFill>
            <a:srgbClr val="F3E1D6"/>
          </a:solidFill>
          <a:ln w="12700">
            <a:solidFill>
              <a:srgbClr val="F3E1D6"/>
            </a:solidFill>
            <a:prstDash val="solid"/>
          </a:ln>
        </p:spPr>
      </p:sp>
      <p:pic>
        <p:nvPicPr>
          <p:cNvPr id="5" name="Image 0" descr="preencoded.png">    </p:cNvPr>
          <p:cNvPicPr>
            <a:picLocks noChangeAspect="1"/>
          </p:cNvPicPr>
          <p:nvPr/>
        </p:nvPicPr>
        <p:blipFill>
          <a:blip r:embed="rId1"/>
          <a:stretch>
            <a:fillRect/>
          </a:stretch>
        </p:blipFill>
        <p:spPr>
          <a:xfrm>
            <a:off x="758952" y="1399032"/>
            <a:ext cx="237744" cy="237744"/>
          </a:xfrm>
          <a:prstGeom prst="rect">
            <a:avLst/>
          </a:prstGeom>
        </p:spPr>
      </p:pic>
      <p:sp>
        <p:nvSpPr>
          <p:cNvPr id="6" name="Text 3"/>
          <p:cNvSpPr txBox="1"/>
          <p:nvPr/>
        </p:nvSpPr>
        <p:spPr>
          <a:xfrm>
            <a:off x="640080" y="1847088"/>
            <a:ext cx="1600200" cy="411480"/>
          </a:xfrm>
          <a:prstGeom prst="rect">
            <a:avLst/>
          </a:prstGeom>
          <a:noFill/>
          <a:ln/>
        </p:spPr>
        <p:txBody>
          <a:bodyPr wrap="square" lIns="0" tIns="0" rIns="0" bIns="0" rtlCol="0" anchor="ctr"/>
          <a:lstStyle/>
          <a:p>
            <a:pPr indent="0" marL="0">
              <a:buNone/>
            </a:pPr>
            <a:r>
              <a:rPr lang="en-US" sz="1300" b="1" dirty="0">
                <a:solidFill>
                  <a:srgbClr val="4A3B30"/>
                </a:solidFill>
                <a:latin typeface="Calibri" pitchFamily="34" charset="0"/>
                <a:ea typeface="Calibri" pitchFamily="34" charset="-122"/>
                <a:cs typeface="Calibri" pitchFamily="34" charset="-120"/>
              </a:rPr>
              <a:t>Next.js</a:t>
            </a:r>
            <a:endParaRPr lang="en-US" sz="1300" dirty="0"/>
          </a:p>
        </p:txBody>
      </p:sp>
      <p:sp>
        <p:nvSpPr>
          <p:cNvPr id="7" name="Text 4"/>
          <p:cNvSpPr txBox="1"/>
          <p:nvPr/>
        </p:nvSpPr>
        <p:spPr>
          <a:xfrm>
            <a:off x="640080" y="2267712"/>
            <a:ext cx="1600200" cy="457200"/>
          </a:xfrm>
          <a:prstGeom prst="rect">
            <a:avLst/>
          </a:prstGeom>
          <a:noFill/>
          <a:ln/>
        </p:spPr>
        <p:txBody>
          <a:bodyPr wrap="square" lIns="0" tIns="0" rIns="0" bIns="0" rtlCol="0" anchor="t"/>
          <a:lstStyle/>
          <a:p>
            <a:pPr indent="0" marL="0">
              <a:buNone/>
            </a:pPr>
            <a:r>
              <a:rPr lang="en-US" sz="1050" dirty="0">
                <a:solidFill>
                  <a:srgbClr val="65523F"/>
                </a:solidFill>
                <a:latin typeface="Calibri" pitchFamily="34" charset="0"/>
                <a:ea typeface="Calibri" pitchFamily="34" charset="-122"/>
                <a:cs typeface="Calibri" pitchFamily="34" charset="-120"/>
              </a:rPr>
              <a:t>The screens, plus a strict policy against injected scripts</a:t>
            </a:r>
            <a:endParaRPr lang="en-US" sz="1050" dirty="0"/>
          </a:p>
        </p:txBody>
      </p:sp>
      <p:sp>
        <p:nvSpPr>
          <p:cNvPr id="8" name="Shape 5"/>
          <p:cNvSpPr/>
          <p:nvPr/>
        </p:nvSpPr>
        <p:spPr>
          <a:xfrm>
            <a:off x="2560320" y="1097280"/>
            <a:ext cx="1920240" cy="1691640"/>
          </a:xfrm>
          <a:prstGeom prst="roundRect">
            <a:avLst>
              <a:gd name="adj" fmla="val 648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9" name="Shape 6"/>
          <p:cNvSpPr/>
          <p:nvPr/>
        </p:nvSpPr>
        <p:spPr>
          <a:xfrm>
            <a:off x="2743200" y="1280160"/>
            <a:ext cx="475488" cy="475488"/>
          </a:xfrm>
          <a:prstGeom prst="ellipse">
            <a:avLst/>
          </a:prstGeom>
          <a:solidFill>
            <a:srgbClr val="F3E1D6"/>
          </a:solidFill>
          <a:ln w="12700">
            <a:solidFill>
              <a:srgbClr val="F3E1D6"/>
            </a:solidFill>
            <a:prstDash val="solid"/>
          </a:ln>
        </p:spPr>
      </p:sp>
      <p:pic>
        <p:nvPicPr>
          <p:cNvPr id="10" name="Image 1" descr="preencoded.png">    </p:cNvPr>
          <p:cNvPicPr>
            <a:picLocks noChangeAspect="1"/>
          </p:cNvPicPr>
          <p:nvPr/>
        </p:nvPicPr>
        <p:blipFill>
          <a:blip r:embed="rId2"/>
          <a:stretch>
            <a:fillRect/>
          </a:stretch>
        </p:blipFill>
        <p:spPr>
          <a:xfrm>
            <a:off x="2862072" y="1399032"/>
            <a:ext cx="237744" cy="237744"/>
          </a:xfrm>
          <a:prstGeom prst="rect">
            <a:avLst/>
          </a:prstGeom>
        </p:spPr>
      </p:pic>
      <p:sp>
        <p:nvSpPr>
          <p:cNvPr id="11" name="Text 7"/>
          <p:cNvSpPr txBox="1"/>
          <p:nvPr/>
        </p:nvSpPr>
        <p:spPr>
          <a:xfrm>
            <a:off x="2743200" y="1847088"/>
            <a:ext cx="1600200" cy="411480"/>
          </a:xfrm>
          <a:prstGeom prst="rect">
            <a:avLst/>
          </a:prstGeom>
          <a:noFill/>
          <a:ln/>
        </p:spPr>
        <p:txBody>
          <a:bodyPr wrap="square" lIns="0" tIns="0" rIns="0" bIns="0" rtlCol="0" anchor="ctr"/>
          <a:lstStyle/>
          <a:p>
            <a:pPr indent="0" marL="0">
              <a:buNone/>
            </a:pPr>
            <a:r>
              <a:rPr lang="en-US" sz="1300" b="1" dirty="0">
                <a:solidFill>
                  <a:srgbClr val="4A3B30"/>
                </a:solidFill>
                <a:latin typeface="Calibri" pitchFamily="34" charset="0"/>
                <a:ea typeface="Calibri" pitchFamily="34" charset="-122"/>
                <a:cs typeface="Calibri" pitchFamily="34" charset="-120"/>
              </a:rPr>
              <a:t>OpenPGP.js</a:t>
            </a:r>
            <a:endParaRPr lang="en-US" sz="1300" dirty="0"/>
          </a:p>
        </p:txBody>
      </p:sp>
      <p:sp>
        <p:nvSpPr>
          <p:cNvPr id="12" name="Text 8"/>
          <p:cNvSpPr txBox="1"/>
          <p:nvPr/>
        </p:nvSpPr>
        <p:spPr>
          <a:xfrm>
            <a:off x="2743200" y="2267712"/>
            <a:ext cx="1600200" cy="457200"/>
          </a:xfrm>
          <a:prstGeom prst="rect">
            <a:avLst/>
          </a:prstGeom>
          <a:noFill/>
          <a:ln/>
        </p:spPr>
        <p:txBody>
          <a:bodyPr wrap="square" lIns="0" tIns="0" rIns="0" bIns="0" rtlCol="0" anchor="t"/>
          <a:lstStyle/>
          <a:p>
            <a:pPr indent="0" marL="0">
              <a:buNone/>
            </a:pPr>
            <a:r>
              <a:rPr lang="en-US" sz="1050" dirty="0">
                <a:solidFill>
                  <a:srgbClr val="65523F"/>
                </a:solidFill>
                <a:latin typeface="Calibri" pitchFamily="34" charset="0"/>
                <a:ea typeface="Calibri" pitchFamily="34" charset="-122"/>
                <a:cs typeface="Calibri" pitchFamily="34" charset="-120"/>
              </a:rPr>
              <a:t>Keys, encryption and signing, all in the browser</a:t>
            </a:r>
            <a:endParaRPr lang="en-US" sz="1050" dirty="0"/>
          </a:p>
        </p:txBody>
      </p:sp>
      <p:sp>
        <p:nvSpPr>
          <p:cNvPr id="13" name="Shape 9"/>
          <p:cNvSpPr/>
          <p:nvPr/>
        </p:nvSpPr>
        <p:spPr>
          <a:xfrm>
            <a:off x="4663440" y="1097280"/>
            <a:ext cx="1920240" cy="1691640"/>
          </a:xfrm>
          <a:prstGeom prst="roundRect">
            <a:avLst>
              <a:gd name="adj" fmla="val 648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14" name="Shape 10"/>
          <p:cNvSpPr/>
          <p:nvPr/>
        </p:nvSpPr>
        <p:spPr>
          <a:xfrm>
            <a:off x="4846320" y="1280160"/>
            <a:ext cx="475488" cy="475488"/>
          </a:xfrm>
          <a:prstGeom prst="ellipse">
            <a:avLst/>
          </a:prstGeom>
          <a:solidFill>
            <a:srgbClr val="F3E1D6"/>
          </a:solidFill>
          <a:ln w="12700">
            <a:solidFill>
              <a:srgbClr val="F3E1D6"/>
            </a:solidFill>
            <a:prstDash val="solid"/>
          </a:ln>
        </p:spPr>
      </p:sp>
      <p:pic>
        <p:nvPicPr>
          <p:cNvPr id="15" name="Image 2" descr="preencoded.png">    </p:cNvPr>
          <p:cNvPicPr>
            <a:picLocks noChangeAspect="1"/>
          </p:cNvPicPr>
          <p:nvPr/>
        </p:nvPicPr>
        <p:blipFill>
          <a:blip r:embed="rId3"/>
          <a:stretch>
            <a:fillRect/>
          </a:stretch>
        </p:blipFill>
        <p:spPr>
          <a:xfrm>
            <a:off x="4965192" y="1399032"/>
            <a:ext cx="237744" cy="237744"/>
          </a:xfrm>
          <a:prstGeom prst="rect">
            <a:avLst/>
          </a:prstGeom>
        </p:spPr>
      </p:pic>
      <p:sp>
        <p:nvSpPr>
          <p:cNvPr id="16" name="Text 11"/>
          <p:cNvSpPr txBox="1"/>
          <p:nvPr/>
        </p:nvSpPr>
        <p:spPr>
          <a:xfrm>
            <a:off x="4846320" y="1847088"/>
            <a:ext cx="1600200" cy="411480"/>
          </a:xfrm>
          <a:prstGeom prst="rect">
            <a:avLst/>
          </a:prstGeom>
          <a:noFill/>
          <a:ln/>
        </p:spPr>
        <p:txBody>
          <a:bodyPr wrap="square" lIns="0" tIns="0" rIns="0" bIns="0" rtlCol="0" anchor="ctr"/>
          <a:lstStyle/>
          <a:p>
            <a:pPr indent="0" marL="0">
              <a:buNone/>
            </a:pPr>
            <a:r>
              <a:rPr lang="en-US" sz="1300" b="1" dirty="0">
                <a:solidFill>
                  <a:srgbClr val="4A3B30"/>
                </a:solidFill>
                <a:latin typeface="Calibri" pitchFamily="34" charset="0"/>
                <a:ea typeface="Calibri" pitchFamily="34" charset="-122"/>
                <a:cs typeface="Calibri" pitchFamily="34" charset="-120"/>
              </a:rPr>
              <a:t>Spring Boot</a:t>
            </a:r>
            <a:endParaRPr lang="en-US" sz="1300" dirty="0"/>
          </a:p>
        </p:txBody>
      </p:sp>
      <p:sp>
        <p:nvSpPr>
          <p:cNvPr id="17" name="Text 12"/>
          <p:cNvSpPr txBox="1"/>
          <p:nvPr/>
        </p:nvSpPr>
        <p:spPr>
          <a:xfrm>
            <a:off x="4846320" y="2267712"/>
            <a:ext cx="1600200" cy="457200"/>
          </a:xfrm>
          <a:prstGeom prst="rect">
            <a:avLst/>
          </a:prstGeom>
          <a:noFill/>
          <a:ln/>
        </p:spPr>
        <p:txBody>
          <a:bodyPr wrap="square" lIns="0" tIns="0" rIns="0" bIns="0" rtlCol="0" anchor="t"/>
          <a:lstStyle/>
          <a:p>
            <a:pPr indent="0" marL="0">
              <a:buNone/>
            </a:pPr>
            <a:r>
              <a:rPr lang="en-US" sz="1050" dirty="0">
                <a:solidFill>
                  <a:srgbClr val="65523F"/>
                </a:solidFill>
                <a:latin typeface="Calibri" pitchFamily="34" charset="0"/>
                <a:ea typeface="Calibri" pitchFamily="34" charset="-122"/>
                <a:cs typeface="Calibri" pitchFamily="34" charset="-120"/>
              </a:rPr>
              <a:t>REST API in clean layers: controller, service, repository</a:t>
            </a:r>
            <a:endParaRPr lang="en-US" sz="1050" dirty="0"/>
          </a:p>
        </p:txBody>
      </p:sp>
      <p:sp>
        <p:nvSpPr>
          <p:cNvPr id="18" name="Shape 13"/>
          <p:cNvSpPr/>
          <p:nvPr/>
        </p:nvSpPr>
        <p:spPr>
          <a:xfrm>
            <a:off x="6766560" y="1097280"/>
            <a:ext cx="1920240" cy="1691640"/>
          </a:xfrm>
          <a:prstGeom prst="roundRect">
            <a:avLst>
              <a:gd name="adj" fmla="val 648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19" name="Shape 14"/>
          <p:cNvSpPr/>
          <p:nvPr/>
        </p:nvSpPr>
        <p:spPr>
          <a:xfrm>
            <a:off x="6949440" y="1280160"/>
            <a:ext cx="475488" cy="475488"/>
          </a:xfrm>
          <a:prstGeom prst="ellipse">
            <a:avLst/>
          </a:prstGeom>
          <a:solidFill>
            <a:srgbClr val="F3E1D6"/>
          </a:solidFill>
          <a:ln w="12700">
            <a:solidFill>
              <a:srgbClr val="F3E1D6"/>
            </a:solidFill>
            <a:prstDash val="solid"/>
          </a:ln>
        </p:spPr>
      </p:sp>
      <p:pic>
        <p:nvPicPr>
          <p:cNvPr id="20" name="Image 3" descr="preencoded.png">    </p:cNvPr>
          <p:cNvPicPr>
            <a:picLocks noChangeAspect="1"/>
          </p:cNvPicPr>
          <p:nvPr/>
        </p:nvPicPr>
        <p:blipFill>
          <a:blip r:embed="rId4"/>
          <a:stretch>
            <a:fillRect/>
          </a:stretch>
        </p:blipFill>
        <p:spPr>
          <a:xfrm>
            <a:off x="7068312" y="1399032"/>
            <a:ext cx="237744" cy="237744"/>
          </a:xfrm>
          <a:prstGeom prst="rect">
            <a:avLst/>
          </a:prstGeom>
        </p:spPr>
      </p:pic>
      <p:sp>
        <p:nvSpPr>
          <p:cNvPr id="21" name="Text 15"/>
          <p:cNvSpPr txBox="1"/>
          <p:nvPr/>
        </p:nvSpPr>
        <p:spPr>
          <a:xfrm>
            <a:off x="6949440" y="1847088"/>
            <a:ext cx="1600200" cy="411480"/>
          </a:xfrm>
          <a:prstGeom prst="rect">
            <a:avLst/>
          </a:prstGeom>
          <a:noFill/>
          <a:ln/>
        </p:spPr>
        <p:txBody>
          <a:bodyPr wrap="square" lIns="0" tIns="0" rIns="0" bIns="0" rtlCol="0" anchor="ctr"/>
          <a:lstStyle/>
          <a:p>
            <a:pPr indent="0" marL="0">
              <a:buNone/>
            </a:pPr>
            <a:r>
              <a:rPr lang="en-US" sz="1300" b="1" dirty="0">
                <a:solidFill>
                  <a:srgbClr val="4A3B30"/>
                </a:solidFill>
                <a:latin typeface="Calibri" pitchFamily="34" charset="0"/>
                <a:ea typeface="Calibri" pitchFamily="34" charset="-122"/>
                <a:cs typeface="Calibri" pitchFamily="34" charset="-120"/>
              </a:rPr>
              <a:t>Spring Security, JWT, BCrypt</a:t>
            </a:r>
            <a:endParaRPr lang="en-US" sz="1300" dirty="0"/>
          </a:p>
        </p:txBody>
      </p:sp>
      <p:sp>
        <p:nvSpPr>
          <p:cNvPr id="22" name="Text 16"/>
          <p:cNvSpPr txBox="1"/>
          <p:nvPr/>
        </p:nvSpPr>
        <p:spPr>
          <a:xfrm>
            <a:off x="6949440" y="2267712"/>
            <a:ext cx="1600200" cy="457200"/>
          </a:xfrm>
          <a:prstGeom prst="rect">
            <a:avLst/>
          </a:prstGeom>
          <a:noFill/>
          <a:ln/>
        </p:spPr>
        <p:txBody>
          <a:bodyPr wrap="square" lIns="0" tIns="0" rIns="0" bIns="0" rtlCol="0" anchor="t"/>
          <a:lstStyle/>
          <a:p>
            <a:pPr indent="0" marL="0">
              <a:buNone/>
            </a:pPr>
            <a:r>
              <a:rPr lang="en-US" sz="1050" dirty="0">
                <a:solidFill>
                  <a:srgbClr val="65523F"/>
                </a:solidFill>
                <a:latin typeface="Calibri" pitchFamily="34" charset="0"/>
                <a:ea typeface="Calibri" pitchFamily="34" charset="-122"/>
                <a:cs typeface="Calibri" pitchFamily="34" charset="-120"/>
              </a:rPr>
              <a:t>Stateless logins, slow password hashes, rate limits</a:t>
            </a:r>
            <a:endParaRPr lang="en-US" sz="1050" dirty="0"/>
          </a:p>
        </p:txBody>
      </p:sp>
      <p:sp>
        <p:nvSpPr>
          <p:cNvPr id="23" name="Shape 17"/>
          <p:cNvSpPr/>
          <p:nvPr/>
        </p:nvSpPr>
        <p:spPr>
          <a:xfrm>
            <a:off x="457200" y="2971800"/>
            <a:ext cx="1920240" cy="1691640"/>
          </a:xfrm>
          <a:prstGeom prst="roundRect">
            <a:avLst>
              <a:gd name="adj" fmla="val 648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24" name="Shape 18"/>
          <p:cNvSpPr/>
          <p:nvPr/>
        </p:nvSpPr>
        <p:spPr>
          <a:xfrm>
            <a:off x="640080" y="3154680"/>
            <a:ext cx="475488" cy="475488"/>
          </a:xfrm>
          <a:prstGeom prst="ellipse">
            <a:avLst/>
          </a:prstGeom>
          <a:solidFill>
            <a:srgbClr val="F3E1D6"/>
          </a:solidFill>
          <a:ln w="12700">
            <a:solidFill>
              <a:srgbClr val="F3E1D6"/>
            </a:solidFill>
            <a:prstDash val="solid"/>
          </a:ln>
        </p:spPr>
      </p:sp>
      <p:pic>
        <p:nvPicPr>
          <p:cNvPr id="25" name="Image 4" descr="preencoded.png">    </p:cNvPr>
          <p:cNvPicPr>
            <a:picLocks noChangeAspect="1"/>
          </p:cNvPicPr>
          <p:nvPr/>
        </p:nvPicPr>
        <p:blipFill>
          <a:blip r:embed="rId5"/>
          <a:stretch>
            <a:fillRect/>
          </a:stretch>
        </p:blipFill>
        <p:spPr>
          <a:xfrm>
            <a:off x="758952" y="3273552"/>
            <a:ext cx="237744" cy="237744"/>
          </a:xfrm>
          <a:prstGeom prst="rect">
            <a:avLst/>
          </a:prstGeom>
        </p:spPr>
      </p:pic>
      <p:sp>
        <p:nvSpPr>
          <p:cNvPr id="26" name="Text 19"/>
          <p:cNvSpPr txBox="1"/>
          <p:nvPr/>
        </p:nvSpPr>
        <p:spPr>
          <a:xfrm>
            <a:off x="640080" y="3721608"/>
            <a:ext cx="1600200" cy="411480"/>
          </a:xfrm>
          <a:prstGeom prst="rect">
            <a:avLst/>
          </a:prstGeom>
          <a:noFill/>
          <a:ln/>
        </p:spPr>
        <p:txBody>
          <a:bodyPr wrap="square" lIns="0" tIns="0" rIns="0" bIns="0" rtlCol="0" anchor="ctr"/>
          <a:lstStyle/>
          <a:p>
            <a:pPr indent="0" marL="0">
              <a:buNone/>
            </a:pPr>
            <a:r>
              <a:rPr lang="en-US" sz="1300" b="1" dirty="0">
                <a:solidFill>
                  <a:srgbClr val="4A3B30"/>
                </a:solidFill>
                <a:latin typeface="Calibri" pitchFamily="34" charset="0"/>
                <a:ea typeface="Calibri" pitchFamily="34" charset="-122"/>
                <a:cs typeface="Calibri" pitchFamily="34" charset="-120"/>
              </a:rPr>
              <a:t>BouncyCastle</a:t>
            </a:r>
            <a:endParaRPr lang="en-US" sz="1300" dirty="0"/>
          </a:p>
        </p:txBody>
      </p:sp>
      <p:sp>
        <p:nvSpPr>
          <p:cNvPr id="27" name="Text 20"/>
          <p:cNvSpPr txBox="1"/>
          <p:nvPr/>
        </p:nvSpPr>
        <p:spPr>
          <a:xfrm>
            <a:off x="640080" y="4142232"/>
            <a:ext cx="1600200" cy="457200"/>
          </a:xfrm>
          <a:prstGeom prst="rect">
            <a:avLst/>
          </a:prstGeom>
          <a:noFill/>
          <a:ln/>
        </p:spPr>
        <p:txBody>
          <a:bodyPr wrap="square" lIns="0" tIns="0" rIns="0" bIns="0" rtlCol="0" anchor="t"/>
          <a:lstStyle/>
          <a:p>
            <a:pPr indent="0" marL="0">
              <a:buNone/>
            </a:pPr>
            <a:r>
              <a:rPr lang="en-US" sz="1050" dirty="0">
                <a:solidFill>
                  <a:srgbClr val="65523F"/>
                </a:solidFill>
                <a:latin typeface="Calibri" pitchFamily="34" charset="0"/>
                <a:ea typeface="Calibri" pitchFamily="34" charset="-122"/>
                <a:cs typeface="Calibri" pitchFamily="34" charset="-120"/>
              </a:rPr>
              <a:t>Checks keys and ciphertext on the server. Never decrypts</a:t>
            </a:r>
            <a:endParaRPr lang="en-US" sz="1050" dirty="0"/>
          </a:p>
        </p:txBody>
      </p:sp>
      <p:sp>
        <p:nvSpPr>
          <p:cNvPr id="28" name="Shape 21"/>
          <p:cNvSpPr/>
          <p:nvPr/>
        </p:nvSpPr>
        <p:spPr>
          <a:xfrm>
            <a:off x="2560320" y="2971800"/>
            <a:ext cx="1920240" cy="1691640"/>
          </a:xfrm>
          <a:prstGeom prst="roundRect">
            <a:avLst>
              <a:gd name="adj" fmla="val 648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29" name="Shape 22"/>
          <p:cNvSpPr/>
          <p:nvPr/>
        </p:nvSpPr>
        <p:spPr>
          <a:xfrm>
            <a:off x="2743200" y="3154680"/>
            <a:ext cx="475488" cy="475488"/>
          </a:xfrm>
          <a:prstGeom prst="ellipse">
            <a:avLst/>
          </a:prstGeom>
          <a:solidFill>
            <a:srgbClr val="F3E1D6"/>
          </a:solidFill>
          <a:ln w="12700">
            <a:solidFill>
              <a:srgbClr val="F3E1D6"/>
            </a:solidFill>
            <a:prstDash val="solid"/>
          </a:ln>
        </p:spPr>
      </p:sp>
      <p:pic>
        <p:nvPicPr>
          <p:cNvPr id="30" name="Image 5" descr="preencoded.png">    </p:cNvPr>
          <p:cNvPicPr>
            <a:picLocks noChangeAspect="1"/>
          </p:cNvPicPr>
          <p:nvPr/>
        </p:nvPicPr>
        <p:blipFill>
          <a:blip r:embed="rId6"/>
          <a:stretch>
            <a:fillRect/>
          </a:stretch>
        </p:blipFill>
        <p:spPr>
          <a:xfrm>
            <a:off x="2862072" y="3273552"/>
            <a:ext cx="237744" cy="237744"/>
          </a:xfrm>
          <a:prstGeom prst="rect">
            <a:avLst/>
          </a:prstGeom>
        </p:spPr>
      </p:pic>
      <p:sp>
        <p:nvSpPr>
          <p:cNvPr id="31" name="Text 23"/>
          <p:cNvSpPr txBox="1"/>
          <p:nvPr/>
        </p:nvSpPr>
        <p:spPr>
          <a:xfrm>
            <a:off x="2743200" y="3721608"/>
            <a:ext cx="1600200" cy="411480"/>
          </a:xfrm>
          <a:prstGeom prst="rect">
            <a:avLst/>
          </a:prstGeom>
          <a:noFill/>
          <a:ln/>
        </p:spPr>
        <p:txBody>
          <a:bodyPr wrap="square" lIns="0" tIns="0" rIns="0" bIns="0" rtlCol="0" anchor="ctr"/>
          <a:lstStyle/>
          <a:p>
            <a:pPr indent="0" marL="0">
              <a:buNone/>
            </a:pPr>
            <a:r>
              <a:rPr lang="en-US" sz="1300" b="1" dirty="0">
                <a:solidFill>
                  <a:srgbClr val="4A3B30"/>
                </a:solidFill>
                <a:latin typeface="Calibri" pitchFamily="34" charset="0"/>
                <a:ea typeface="Calibri" pitchFamily="34" charset="-122"/>
                <a:cs typeface="Calibri" pitchFamily="34" charset="-120"/>
              </a:rPr>
              <a:t>WebSocket / STOMP</a:t>
            </a:r>
            <a:endParaRPr lang="en-US" sz="1300" dirty="0"/>
          </a:p>
        </p:txBody>
      </p:sp>
      <p:sp>
        <p:nvSpPr>
          <p:cNvPr id="32" name="Text 24"/>
          <p:cNvSpPr txBox="1"/>
          <p:nvPr/>
        </p:nvSpPr>
        <p:spPr>
          <a:xfrm>
            <a:off x="2743200" y="4142232"/>
            <a:ext cx="1600200" cy="457200"/>
          </a:xfrm>
          <a:prstGeom prst="rect">
            <a:avLst/>
          </a:prstGeom>
          <a:noFill/>
          <a:ln/>
        </p:spPr>
        <p:txBody>
          <a:bodyPr wrap="square" lIns="0" tIns="0" rIns="0" bIns="0" rtlCol="0" anchor="t"/>
          <a:lstStyle/>
          <a:p>
            <a:pPr indent="0" marL="0">
              <a:buNone/>
            </a:pPr>
            <a:r>
              <a:rPr lang="en-US" sz="1050" dirty="0">
                <a:solidFill>
                  <a:srgbClr val="65523F"/>
                </a:solidFill>
                <a:latin typeface="Calibri" pitchFamily="34" charset="0"/>
                <a:ea typeface="Calibri" pitchFamily="34" charset="-122"/>
                <a:cs typeface="Calibri" pitchFamily="34" charset="-120"/>
              </a:rPr>
              <a:t>Pushes new messages instantly, once they are saved</a:t>
            </a:r>
            <a:endParaRPr lang="en-US" sz="1050" dirty="0"/>
          </a:p>
        </p:txBody>
      </p:sp>
      <p:sp>
        <p:nvSpPr>
          <p:cNvPr id="33" name="Shape 25"/>
          <p:cNvSpPr/>
          <p:nvPr/>
        </p:nvSpPr>
        <p:spPr>
          <a:xfrm>
            <a:off x="4663440" y="2971800"/>
            <a:ext cx="1920240" cy="1691640"/>
          </a:xfrm>
          <a:prstGeom prst="roundRect">
            <a:avLst>
              <a:gd name="adj" fmla="val 648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34" name="Shape 26"/>
          <p:cNvSpPr/>
          <p:nvPr/>
        </p:nvSpPr>
        <p:spPr>
          <a:xfrm>
            <a:off x="4846320" y="3154680"/>
            <a:ext cx="475488" cy="475488"/>
          </a:xfrm>
          <a:prstGeom prst="ellipse">
            <a:avLst/>
          </a:prstGeom>
          <a:solidFill>
            <a:srgbClr val="F3E1D6"/>
          </a:solidFill>
          <a:ln w="12700">
            <a:solidFill>
              <a:srgbClr val="F3E1D6"/>
            </a:solidFill>
            <a:prstDash val="solid"/>
          </a:ln>
        </p:spPr>
      </p:sp>
      <p:pic>
        <p:nvPicPr>
          <p:cNvPr id="35" name="Image 6" descr="preencoded.png">    </p:cNvPr>
          <p:cNvPicPr>
            <a:picLocks noChangeAspect="1"/>
          </p:cNvPicPr>
          <p:nvPr/>
        </p:nvPicPr>
        <p:blipFill>
          <a:blip r:embed="rId7"/>
          <a:stretch>
            <a:fillRect/>
          </a:stretch>
        </p:blipFill>
        <p:spPr>
          <a:xfrm>
            <a:off x="4965192" y="3273552"/>
            <a:ext cx="237744" cy="237744"/>
          </a:xfrm>
          <a:prstGeom prst="rect">
            <a:avLst/>
          </a:prstGeom>
        </p:spPr>
      </p:pic>
      <p:sp>
        <p:nvSpPr>
          <p:cNvPr id="36" name="Text 27"/>
          <p:cNvSpPr txBox="1"/>
          <p:nvPr/>
        </p:nvSpPr>
        <p:spPr>
          <a:xfrm>
            <a:off x="4846320" y="3721608"/>
            <a:ext cx="1600200" cy="411480"/>
          </a:xfrm>
          <a:prstGeom prst="rect">
            <a:avLst/>
          </a:prstGeom>
          <a:noFill/>
          <a:ln/>
        </p:spPr>
        <p:txBody>
          <a:bodyPr wrap="square" lIns="0" tIns="0" rIns="0" bIns="0" rtlCol="0" anchor="ctr"/>
          <a:lstStyle/>
          <a:p>
            <a:pPr indent="0" marL="0">
              <a:buNone/>
            </a:pPr>
            <a:r>
              <a:rPr lang="en-US" sz="1300" b="1" dirty="0">
                <a:solidFill>
                  <a:srgbClr val="4A3B30"/>
                </a:solidFill>
                <a:latin typeface="Calibri" pitchFamily="34" charset="0"/>
                <a:ea typeface="Calibri" pitchFamily="34" charset="-122"/>
                <a:cs typeface="Calibri" pitchFamily="34" charset="-120"/>
              </a:rPr>
              <a:t>PostgreSQL + Flyway</a:t>
            </a:r>
            <a:endParaRPr lang="en-US" sz="1300" dirty="0"/>
          </a:p>
        </p:txBody>
      </p:sp>
      <p:sp>
        <p:nvSpPr>
          <p:cNvPr id="37" name="Text 28"/>
          <p:cNvSpPr txBox="1"/>
          <p:nvPr/>
        </p:nvSpPr>
        <p:spPr>
          <a:xfrm>
            <a:off x="4846320" y="4142232"/>
            <a:ext cx="1600200" cy="457200"/>
          </a:xfrm>
          <a:prstGeom prst="rect">
            <a:avLst/>
          </a:prstGeom>
          <a:noFill/>
          <a:ln/>
        </p:spPr>
        <p:txBody>
          <a:bodyPr wrap="square" lIns="0" tIns="0" rIns="0" bIns="0" rtlCol="0" anchor="t"/>
          <a:lstStyle/>
          <a:p>
            <a:pPr indent="0" marL="0">
              <a:buNone/>
            </a:pPr>
            <a:r>
              <a:rPr lang="en-US" sz="1050" dirty="0">
                <a:solidFill>
                  <a:srgbClr val="65523F"/>
                </a:solidFill>
                <a:latin typeface="Calibri" pitchFamily="34" charset="0"/>
                <a:ea typeface="Calibri" pitchFamily="34" charset="-122"/>
                <a:cs typeface="Calibri" pitchFamily="34" charset="-120"/>
              </a:rPr>
              <a:t>Stores ciphertext; Flyway versions the schema</a:t>
            </a:r>
            <a:endParaRPr lang="en-US" sz="1050" dirty="0"/>
          </a:p>
        </p:txBody>
      </p:sp>
      <p:sp>
        <p:nvSpPr>
          <p:cNvPr id="38" name="Shape 29"/>
          <p:cNvSpPr/>
          <p:nvPr/>
        </p:nvSpPr>
        <p:spPr>
          <a:xfrm>
            <a:off x="6766560" y="2971800"/>
            <a:ext cx="1920240" cy="1691640"/>
          </a:xfrm>
          <a:prstGeom prst="roundRect">
            <a:avLst>
              <a:gd name="adj" fmla="val 648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39" name="Shape 30"/>
          <p:cNvSpPr/>
          <p:nvPr/>
        </p:nvSpPr>
        <p:spPr>
          <a:xfrm>
            <a:off x="6949440" y="3154680"/>
            <a:ext cx="475488" cy="475488"/>
          </a:xfrm>
          <a:prstGeom prst="ellipse">
            <a:avLst/>
          </a:prstGeom>
          <a:solidFill>
            <a:srgbClr val="F3E1D6"/>
          </a:solidFill>
          <a:ln w="12700">
            <a:solidFill>
              <a:srgbClr val="F3E1D6"/>
            </a:solidFill>
            <a:prstDash val="solid"/>
          </a:ln>
        </p:spPr>
      </p:sp>
      <p:pic>
        <p:nvPicPr>
          <p:cNvPr id="40" name="Image 7" descr="preencoded.png">    </p:cNvPr>
          <p:cNvPicPr>
            <a:picLocks noChangeAspect="1"/>
          </p:cNvPicPr>
          <p:nvPr/>
        </p:nvPicPr>
        <p:blipFill>
          <a:blip r:embed="rId8"/>
          <a:stretch>
            <a:fillRect/>
          </a:stretch>
        </p:blipFill>
        <p:spPr>
          <a:xfrm>
            <a:off x="7068312" y="3273552"/>
            <a:ext cx="237744" cy="237744"/>
          </a:xfrm>
          <a:prstGeom prst="rect">
            <a:avLst/>
          </a:prstGeom>
        </p:spPr>
      </p:pic>
      <p:sp>
        <p:nvSpPr>
          <p:cNvPr id="41" name="Text 31"/>
          <p:cNvSpPr txBox="1"/>
          <p:nvPr/>
        </p:nvSpPr>
        <p:spPr>
          <a:xfrm>
            <a:off x="6949440" y="3721608"/>
            <a:ext cx="1600200" cy="411480"/>
          </a:xfrm>
          <a:prstGeom prst="rect">
            <a:avLst/>
          </a:prstGeom>
          <a:noFill/>
          <a:ln/>
        </p:spPr>
        <p:txBody>
          <a:bodyPr wrap="square" lIns="0" tIns="0" rIns="0" bIns="0" rtlCol="0" anchor="ctr"/>
          <a:lstStyle/>
          <a:p>
            <a:pPr indent="0" marL="0">
              <a:buNone/>
            </a:pPr>
            <a:r>
              <a:rPr lang="en-US" sz="1300" b="1" dirty="0">
                <a:solidFill>
                  <a:srgbClr val="4A3B30"/>
                </a:solidFill>
                <a:latin typeface="Calibri" pitchFamily="34" charset="0"/>
                <a:ea typeface="Calibri" pitchFamily="34" charset="-122"/>
                <a:cs typeface="Calibri" pitchFamily="34" charset="-120"/>
              </a:rPr>
              <a:t>Docker Compose</a:t>
            </a:r>
            <a:endParaRPr lang="en-US" sz="1300" dirty="0"/>
          </a:p>
        </p:txBody>
      </p:sp>
      <p:sp>
        <p:nvSpPr>
          <p:cNvPr id="42" name="Text 32"/>
          <p:cNvSpPr txBox="1"/>
          <p:nvPr/>
        </p:nvSpPr>
        <p:spPr>
          <a:xfrm>
            <a:off x="6949440" y="4142232"/>
            <a:ext cx="1600200" cy="457200"/>
          </a:xfrm>
          <a:prstGeom prst="rect">
            <a:avLst/>
          </a:prstGeom>
          <a:noFill/>
          <a:ln/>
        </p:spPr>
        <p:txBody>
          <a:bodyPr wrap="square" lIns="0" tIns="0" rIns="0" bIns="0" rtlCol="0" anchor="t"/>
          <a:lstStyle/>
          <a:p>
            <a:pPr indent="0" marL="0">
              <a:buNone/>
            </a:pPr>
            <a:r>
              <a:rPr lang="en-US" sz="1050" dirty="0">
                <a:solidFill>
                  <a:srgbClr val="65523F"/>
                </a:solidFill>
                <a:latin typeface="Calibri" pitchFamily="34" charset="0"/>
                <a:ea typeface="Calibri" pitchFamily="34" charset="-122"/>
                <a:cs typeface="Calibri" pitchFamily="34" charset="-120"/>
              </a:rPr>
              <a:t>Database, backend and frontend in one command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EE4"/>
        </a:solidFill>
      </p:bgPr>
    </p:bg>
    <p:spTree>
      <p:nvGrpSpPr>
        <p:cNvPr id="1" name=""/>
        <p:cNvGrpSpPr/>
        <p:nvPr/>
      </p:nvGrpSpPr>
      <p:grpSpPr>
        <a:xfrm>
          <a:off x="0" y="0"/>
          <a:ext cx="0" cy="0"/>
          <a:chOff x="0" y="0"/>
          <a:chExt cx="0" cy="0"/>
        </a:xfrm>
      </p:grpSpPr>
      <p:sp>
        <p:nvSpPr>
          <p:cNvPr id="2" name="Text 0"/>
          <p:cNvSpPr txBox="1"/>
          <p:nvPr/>
        </p:nvSpPr>
        <p:spPr>
          <a:xfrm>
            <a:off x="457200" y="365760"/>
            <a:ext cx="4937760" cy="640080"/>
          </a:xfrm>
          <a:prstGeom prst="rect">
            <a:avLst/>
          </a:prstGeom>
          <a:noFill/>
          <a:ln/>
        </p:spPr>
        <p:txBody>
          <a:bodyPr wrap="square" lIns="0" tIns="0" rIns="0" bIns="0" rtlCol="0" anchor="t"/>
          <a:lstStyle/>
          <a:p>
            <a:pPr indent="0" marL="0">
              <a:buNone/>
            </a:pPr>
            <a:r>
              <a:rPr lang="en-US" sz="3200" b="1" dirty="0">
                <a:solidFill>
                  <a:srgbClr val="4A3B30"/>
                </a:solidFill>
                <a:latin typeface="Cambria" pitchFamily="34" charset="0"/>
                <a:ea typeface="Cambria" pitchFamily="34" charset="-122"/>
                <a:cs typeface="Cambria" pitchFamily="34" charset="-120"/>
              </a:rPr>
              <a:t>Security highlights</a:t>
            </a:r>
            <a:endParaRPr lang="en-US" sz="3200" dirty="0"/>
          </a:p>
        </p:txBody>
      </p:sp>
      <p:sp>
        <p:nvSpPr>
          <p:cNvPr id="3" name="Shape 1"/>
          <p:cNvSpPr/>
          <p:nvPr/>
        </p:nvSpPr>
        <p:spPr>
          <a:xfrm>
            <a:off x="457200" y="1188720"/>
            <a:ext cx="548640" cy="548640"/>
          </a:xfrm>
          <a:prstGeom prst="ellipse">
            <a:avLst/>
          </a:prstGeom>
          <a:solidFill>
            <a:srgbClr val="F3E1D6"/>
          </a:solidFill>
          <a:ln w="12700">
            <a:solidFill>
              <a:srgbClr val="F3E1D6"/>
            </a:solidFill>
            <a:prstDash val="solid"/>
          </a:ln>
        </p:spPr>
      </p:sp>
      <p:pic>
        <p:nvPicPr>
          <p:cNvPr id="4" name="Image 0" descr="preencoded.png">    </p:cNvPr>
          <p:cNvPicPr>
            <a:picLocks noChangeAspect="1"/>
          </p:cNvPicPr>
          <p:nvPr/>
        </p:nvPicPr>
        <p:blipFill>
          <a:blip r:embed="rId1"/>
          <a:stretch>
            <a:fillRect/>
          </a:stretch>
        </p:blipFill>
        <p:spPr>
          <a:xfrm>
            <a:off x="594360" y="1325880"/>
            <a:ext cx="274320" cy="274320"/>
          </a:xfrm>
          <a:prstGeom prst="rect">
            <a:avLst/>
          </a:prstGeom>
        </p:spPr>
      </p:pic>
      <p:sp>
        <p:nvSpPr>
          <p:cNvPr id="5" name="Text 2"/>
          <p:cNvSpPr txBox="1"/>
          <p:nvPr/>
        </p:nvSpPr>
        <p:spPr>
          <a:xfrm>
            <a:off x="1188720" y="1170432"/>
            <a:ext cx="4114800" cy="292608"/>
          </a:xfrm>
          <a:prstGeom prst="rect">
            <a:avLst/>
          </a:prstGeom>
          <a:noFill/>
          <a:ln/>
        </p:spPr>
        <p:txBody>
          <a:bodyPr wrap="square" lIns="0" tIns="0" rIns="0" bIns="0" rtlCol="0" anchor="t"/>
          <a:lstStyle/>
          <a:p>
            <a:pPr indent="0" marL="0">
              <a:buNone/>
            </a:pPr>
            <a:r>
              <a:rPr lang="en-US" sz="1500" b="1" dirty="0">
                <a:solidFill>
                  <a:srgbClr val="4A3B30"/>
                </a:solidFill>
                <a:latin typeface="Calibri" pitchFamily="34" charset="0"/>
                <a:ea typeface="Calibri" pitchFamily="34" charset="-122"/>
                <a:cs typeface="Calibri" pitchFamily="34" charset="-120"/>
              </a:rPr>
              <a:t>End-to-end encryption</a:t>
            </a:r>
            <a:endParaRPr lang="en-US" sz="1500" dirty="0"/>
          </a:p>
        </p:txBody>
      </p:sp>
      <p:sp>
        <p:nvSpPr>
          <p:cNvPr id="6" name="Text 3"/>
          <p:cNvSpPr txBox="1"/>
          <p:nvPr/>
        </p:nvSpPr>
        <p:spPr>
          <a:xfrm>
            <a:off x="1188720" y="1463040"/>
            <a:ext cx="4114800" cy="411480"/>
          </a:xfrm>
          <a:prstGeom prst="rect">
            <a:avLst/>
          </a:prstGeom>
          <a:noFill/>
          <a:ln/>
        </p:spPr>
        <p:txBody>
          <a:bodyPr wrap="square" lIns="0" tIns="0" rIns="0" bIns="0" rtlCol="0" anchor="t"/>
          <a:lstStyle/>
          <a:p>
            <a:pPr indent="0" marL="0">
              <a:buNone/>
            </a:pPr>
            <a:r>
              <a:rPr lang="en-US" sz="1150" dirty="0">
                <a:solidFill>
                  <a:srgbClr val="65523F"/>
                </a:solidFill>
                <a:latin typeface="Calibri" pitchFamily="34" charset="0"/>
                <a:ea typeface="Calibri" pitchFamily="34" charset="-122"/>
                <a:cs typeface="Calibri" pitchFamily="34" charset="-120"/>
              </a:rPr>
              <a:t>Encrypted and signed in the browser before anything is sent</a:t>
            </a:r>
            <a:endParaRPr lang="en-US" sz="1150" dirty="0"/>
          </a:p>
        </p:txBody>
      </p:sp>
      <p:sp>
        <p:nvSpPr>
          <p:cNvPr id="7" name="Shape 4"/>
          <p:cNvSpPr/>
          <p:nvPr/>
        </p:nvSpPr>
        <p:spPr>
          <a:xfrm>
            <a:off x="457200" y="2057400"/>
            <a:ext cx="548640" cy="548640"/>
          </a:xfrm>
          <a:prstGeom prst="ellipse">
            <a:avLst/>
          </a:prstGeom>
          <a:solidFill>
            <a:srgbClr val="F3E1D6"/>
          </a:solidFill>
          <a:ln w="12700">
            <a:solidFill>
              <a:srgbClr val="F3E1D6"/>
            </a:solidFill>
            <a:prstDash val="solid"/>
          </a:ln>
        </p:spPr>
      </p:sp>
      <p:pic>
        <p:nvPicPr>
          <p:cNvPr id="8" name="Image 1" descr="preencoded.png">    </p:cNvPr>
          <p:cNvPicPr>
            <a:picLocks noChangeAspect="1"/>
          </p:cNvPicPr>
          <p:nvPr/>
        </p:nvPicPr>
        <p:blipFill>
          <a:blip r:embed="rId2"/>
          <a:stretch>
            <a:fillRect/>
          </a:stretch>
        </p:blipFill>
        <p:spPr>
          <a:xfrm>
            <a:off x="594360" y="2194560"/>
            <a:ext cx="274320" cy="274320"/>
          </a:xfrm>
          <a:prstGeom prst="rect">
            <a:avLst/>
          </a:prstGeom>
        </p:spPr>
      </p:pic>
      <p:sp>
        <p:nvSpPr>
          <p:cNvPr id="9" name="Text 5"/>
          <p:cNvSpPr txBox="1"/>
          <p:nvPr/>
        </p:nvSpPr>
        <p:spPr>
          <a:xfrm>
            <a:off x="1188720" y="2039112"/>
            <a:ext cx="4114800" cy="292608"/>
          </a:xfrm>
          <a:prstGeom prst="rect">
            <a:avLst/>
          </a:prstGeom>
          <a:noFill/>
          <a:ln/>
        </p:spPr>
        <p:txBody>
          <a:bodyPr wrap="square" lIns="0" tIns="0" rIns="0" bIns="0" rtlCol="0" anchor="t"/>
          <a:lstStyle/>
          <a:p>
            <a:pPr indent="0" marL="0">
              <a:buNone/>
            </a:pPr>
            <a:r>
              <a:rPr lang="en-US" sz="1500" b="1" dirty="0">
                <a:solidFill>
                  <a:srgbClr val="4A3B30"/>
                </a:solidFill>
                <a:latin typeface="Calibri" pitchFamily="34" charset="0"/>
                <a:ea typeface="Calibri" pitchFamily="34" charset="-122"/>
                <a:cs typeface="Calibri" pitchFamily="34" charset="-120"/>
              </a:rPr>
              <a:t>Zero-knowledge server</a:t>
            </a:r>
            <a:endParaRPr lang="en-US" sz="1500" dirty="0"/>
          </a:p>
        </p:txBody>
      </p:sp>
      <p:sp>
        <p:nvSpPr>
          <p:cNvPr id="10" name="Text 6"/>
          <p:cNvSpPr txBox="1"/>
          <p:nvPr/>
        </p:nvSpPr>
        <p:spPr>
          <a:xfrm>
            <a:off x="1188720" y="2331720"/>
            <a:ext cx="4114800" cy="411480"/>
          </a:xfrm>
          <a:prstGeom prst="rect">
            <a:avLst/>
          </a:prstGeom>
          <a:noFill/>
          <a:ln/>
        </p:spPr>
        <p:txBody>
          <a:bodyPr wrap="square" lIns="0" tIns="0" rIns="0" bIns="0" rtlCol="0" anchor="t"/>
          <a:lstStyle/>
          <a:p>
            <a:pPr indent="0" marL="0">
              <a:buNone/>
            </a:pPr>
            <a:r>
              <a:rPr lang="en-US" sz="1150" dirty="0">
                <a:solidFill>
                  <a:srgbClr val="65523F"/>
                </a:solidFill>
                <a:latin typeface="Calibri" pitchFamily="34" charset="0"/>
                <a:ea typeface="Calibri" pitchFamily="34" charset="-122"/>
                <a:cs typeface="Calibri" pitchFamily="34" charset="-120"/>
              </a:rPr>
              <a:t>No plaintext, private keys or passphrases. Only ciphertext and metadata</a:t>
            </a:r>
            <a:endParaRPr lang="en-US" sz="1150" dirty="0"/>
          </a:p>
        </p:txBody>
      </p:sp>
      <p:sp>
        <p:nvSpPr>
          <p:cNvPr id="11" name="Shape 7"/>
          <p:cNvSpPr/>
          <p:nvPr/>
        </p:nvSpPr>
        <p:spPr>
          <a:xfrm>
            <a:off x="457200" y="2926080"/>
            <a:ext cx="548640" cy="548640"/>
          </a:xfrm>
          <a:prstGeom prst="ellipse">
            <a:avLst/>
          </a:prstGeom>
          <a:solidFill>
            <a:srgbClr val="F3E1D6"/>
          </a:solidFill>
          <a:ln w="12700">
            <a:solidFill>
              <a:srgbClr val="F3E1D6"/>
            </a:solidFill>
            <a:prstDash val="solid"/>
          </a:ln>
        </p:spPr>
      </p:sp>
      <p:pic>
        <p:nvPicPr>
          <p:cNvPr id="12" name="Image 2" descr="preencoded.png">    </p:cNvPr>
          <p:cNvPicPr>
            <a:picLocks noChangeAspect="1"/>
          </p:cNvPicPr>
          <p:nvPr/>
        </p:nvPicPr>
        <p:blipFill>
          <a:blip r:embed="rId3"/>
          <a:stretch>
            <a:fillRect/>
          </a:stretch>
        </p:blipFill>
        <p:spPr>
          <a:xfrm>
            <a:off x="594360" y="3063240"/>
            <a:ext cx="274320" cy="274320"/>
          </a:xfrm>
          <a:prstGeom prst="rect">
            <a:avLst/>
          </a:prstGeom>
        </p:spPr>
      </p:pic>
      <p:sp>
        <p:nvSpPr>
          <p:cNvPr id="13" name="Text 8"/>
          <p:cNvSpPr txBox="1"/>
          <p:nvPr/>
        </p:nvSpPr>
        <p:spPr>
          <a:xfrm>
            <a:off x="1188720" y="2907792"/>
            <a:ext cx="4114800" cy="292608"/>
          </a:xfrm>
          <a:prstGeom prst="rect">
            <a:avLst/>
          </a:prstGeom>
          <a:noFill/>
          <a:ln/>
        </p:spPr>
        <p:txBody>
          <a:bodyPr wrap="square" lIns="0" tIns="0" rIns="0" bIns="0" rtlCol="0" anchor="t"/>
          <a:lstStyle/>
          <a:p>
            <a:pPr indent="0" marL="0">
              <a:buNone/>
            </a:pPr>
            <a:r>
              <a:rPr lang="en-US" sz="1500" b="1" dirty="0">
                <a:solidFill>
                  <a:srgbClr val="4A3B30"/>
                </a:solidFill>
                <a:latin typeface="Calibri" pitchFamily="34" charset="0"/>
                <a:ea typeface="Calibri" pitchFamily="34" charset="-122"/>
                <a:cs typeface="Calibri" pitchFamily="34" charset="-120"/>
              </a:rPr>
              <a:t>Signature verification</a:t>
            </a:r>
            <a:endParaRPr lang="en-US" sz="1500" dirty="0"/>
          </a:p>
        </p:txBody>
      </p:sp>
      <p:sp>
        <p:nvSpPr>
          <p:cNvPr id="14" name="Text 9"/>
          <p:cNvSpPr txBox="1"/>
          <p:nvPr/>
        </p:nvSpPr>
        <p:spPr>
          <a:xfrm>
            <a:off x="1188720" y="3200400"/>
            <a:ext cx="4114800" cy="411480"/>
          </a:xfrm>
          <a:prstGeom prst="rect">
            <a:avLst/>
          </a:prstGeom>
          <a:noFill/>
          <a:ln/>
        </p:spPr>
        <p:txBody>
          <a:bodyPr wrap="square" lIns="0" tIns="0" rIns="0" bIns="0" rtlCol="0" anchor="t"/>
          <a:lstStyle/>
          <a:p>
            <a:pPr indent="0" marL="0">
              <a:buNone/>
            </a:pPr>
            <a:r>
              <a:rPr lang="en-US" sz="1150" dirty="0">
                <a:solidFill>
                  <a:srgbClr val="65523F"/>
                </a:solidFill>
                <a:latin typeface="Calibri" pitchFamily="34" charset="0"/>
                <a:ea typeface="Calibri" pitchFamily="34" charset="-122"/>
                <a:cs typeface="Calibri" pitchFamily="34" charset="-120"/>
              </a:rPr>
              <a:t>✓ Verified badge; a tampered message fails to decrypt</a:t>
            </a:r>
            <a:endParaRPr lang="en-US" sz="1150" dirty="0"/>
          </a:p>
        </p:txBody>
      </p:sp>
      <p:sp>
        <p:nvSpPr>
          <p:cNvPr id="15" name="Shape 10"/>
          <p:cNvSpPr/>
          <p:nvPr/>
        </p:nvSpPr>
        <p:spPr>
          <a:xfrm>
            <a:off x="457200" y="3794760"/>
            <a:ext cx="548640" cy="548640"/>
          </a:xfrm>
          <a:prstGeom prst="ellipse">
            <a:avLst/>
          </a:prstGeom>
          <a:solidFill>
            <a:srgbClr val="F3E1D6"/>
          </a:solidFill>
          <a:ln w="12700">
            <a:solidFill>
              <a:srgbClr val="F3E1D6"/>
            </a:solidFill>
            <a:prstDash val="solid"/>
          </a:ln>
        </p:spPr>
      </p:sp>
      <p:pic>
        <p:nvPicPr>
          <p:cNvPr id="16" name="Image 3" descr="preencoded.png">    </p:cNvPr>
          <p:cNvPicPr>
            <a:picLocks noChangeAspect="1"/>
          </p:cNvPicPr>
          <p:nvPr/>
        </p:nvPicPr>
        <p:blipFill>
          <a:blip r:embed="rId4"/>
          <a:stretch>
            <a:fillRect/>
          </a:stretch>
        </p:blipFill>
        <p:spPr>
          <a:xfrm>
            <a:off x="594360" y="3931920"/>
            <a:ext cx="274320" cy="274320"/>
          </a:xfrm>
          <a:prstGeom prst="rect">
            <a:avLst/>
          </a:prstGeom>
        </p:spPr>
      </p:pic>
      <p:sp>
        <p:nvSpPr>
          <p:cNvPr id="17" name="Text 11"/>
          <p:cNvSpPr txBox="1"/>
          <p:nvPr/>
        </p:nvSpPr>
        <p:spPr>
          <a:xfrm>
            <a:off x="1188720" y="3776472"/>
            <a:ext cx="4114800" cy="292608"/>
          </a:xfrm>
          <a:prstGeom prst="rect">
            <a:avLst/>
          </a:prstGeom>
          <a:noFill/>
          <a:ln/>
        </p:spPr>
        <p:txBody>
          <a:bodyPr wrap="square" lIns="0" tIns="0" rIns="0" bIns="0" rtlCol="0" anchor="t"/>
          <a:lstStyle/>
          <a:p>
            <a:pPr indent="0" marL="0">
              <a:buNone/>
            </a:pPr>
            <a:r>
              <a:rPr lang="en-US" sz="1500" b="1" dirty="0">
                <a:solidFill>
                  <a:srgbClr val="4A3B30"/>
                </a:solidFill>
                <a:latin typeface="Calibri" pitchFamily="34" charset="0"/>
                <a:ea typeface="Calibri" pitchFamily="34" charset="-122"/>
                <a:cs typeface="Calibri" pitchFamily="34" charset="-120"/>
              </a:rPr>
              <a:t>Fingerprints</a:t>
            </a:r>
            <a:endParaRPr lang="en-US" sz="1500" dirty="0"/>
          </a:p>
        </p:txBody>
      </p:sp>
      <p:sp>
        <p:nvSpPr>
          <p:cNvPr id="18" name="Text 12"/>
          <p:cNvSpPr txBox="1"/>
          <p:nvPr/>
        </p:nvSpPr>
        <p:spPr>
          <a:xfrm>
            <a:off x="1188720" y="4069080"/>
            <a:ext cx="4114800" cy="411480"/>
          </a:xfrm>
          <a:prstGeom prst="rect">
            <a:avLst/>
          </a:prstGeom>
          <a:noFill/>
          <a:ln/>
        </p:spPr>
        <p:txBody>
          <a:bodyPr wrap="square" lIns="0" tIns="0" rIns="0" bIns="0" rtlCol="0" anchor="t"/>
          <a:lstStyle/>
          <a:p>
            <a:pPr indent="0" marL="0">
              <a:buNone/>
            </a:pPr>
            <a:r>
              <a:rPr lang="en-US" sz="1150" dirty="0">
                <a:solidFill>
                  <a:srgbClr val="65523F"/>
                </a:solidFill>
                <a:latin typeface="Calibri" pitchFamily="34" charset="0"/>
                <a:ea typeface="Calibri" pitchFamily="34" charset="-122"/>
                <a:cs typeface="Calibri" pitchFamily="34" charset="-120"/>
              </a:rPr>
              <a:t>Computed in the browser and pinned; a key change blocks sending</a:t>
            </a:r>
            <a:endParaRPr lang="en-US" sz="1150" dirty="0"/>
          </a:p>
        </p:txBody>
      </p:sp>
      <p:sp>
        <p:nvSpPr>
          <p:cNvPr id="19" name="Shape 13"/>
          <p:cNvSpPr/>
          <p:nvPr/>
        </p:nvSpPr>
        <p:spPr>
          <a:xfrm>
            <a:off x="5669280" y="457200"/>
            <a:ext cx="3017520" cy="4206240"/>
          </a:xfrm>
          <a:prstGeom prst="roundRect">
            <a:avLst>
              <a:gd name="adj" fmla="val 3636"/>
            </a:avLst>
          </a:prstGeom>
          <a:solidFill>
            <a:srgbClr val="FFFDF9"/>
          </a:solidFill>
          <a:ln w="12700">
            <a:solidFill>
              <a:srgbClr val="E6DCCD"/>
            </a:solidFill>
            <a:prstDash val="solid"/>
          </a:ln>
          <a:effectLst>
            <a:outerShdw sx="100000" sy="100000" kx="0" ky="0" algn="bl" rotWithShape="0" blurRad="76200" dist="25400" dir="5400000">
              <a:srgbClr val="4A3B30">
                <a:alpha val="8000"/>
              </a:srgbClr>
            </a:outerShdw>
          </a:effectLst>
        </p:spPr>
      </p:sp>
      <p:sp>
        <p:nvSpPr>
          <p:cNvPr id="20" name="Text 14"/>
          <p:cNvSpPr txBox="1"/>
          <p:nvPr/>
        </p:nvSpPr>
        <p:spPr>
          <a:xfrm>
            <a:off x="5943600" y="868680"/>
            <a:ext cx="2560320" cy="640080"/>
          </a:xfrm>
          <a:prstGeom prst="rect">
            <a:avLst/>
          </a:prstGeom>
          <a:noFill/>
          <a:ln/>
        </p:spPr>
        <p:txBody>
          <a:bodyPr wrap="square" lIns="0" tIns="0" rIns="0" bIns="0" rtlCol="0" anchor="t"/>
          <a:lstStyle/>
          <a:p>
            <a:pPr indent="0" marL="0">
              <a:buNone/>
            </a:pPr>
            <a:r>
              <a:rPr lang="en-US" sz="3400" b="1" dirty="0">
                <a:solidFill>
                  <a:srgbClr val="4A3B30"/>
                </a:solidFill>
                <a:latin typeface="Cambria" pitchFamily="34" charset="0"/>
                <a:ea typeface="Cambria" pitchFamily="34" charset="-122"/>
                <a:cs typeface="Cambria" pitchFamily="34" charset="-120"/>
              </a:rPr>
              <a:t>Thank you</a:t>
            </a:r>
            <a:endParaRPr lang="en-US" sz="3400" dirty="0"/>
          </a:p>
        </p:txBody>
      </p:sp>
      <p:sp>
        <p:nvSpPr>
          <p:cNvPr id="21" name="Text 15"/>
          <p:cNvSpPr txBox="1"/>
          <p:nvPr/>
        </p:nvSpPr>
        <p:spPr>
          <a:xfrm>
            <a:off x="5943600" y="1508760"/>
            <a:ext cx="2560320" cy="457200"/>
          </a:xfrm>
          <a:prstGeom prst="rect">
            <a:avLst/>
          </a:prstGeom>
          <a:noFill/>
          <a:ln/>
        </p:spPr>
        <p:txBody>
          <a:bodyPr wrap="square" lIns="0" tIns="0" rIns="0" bIns="0" rtlCol="0" anchor="t"/>
          <a:lstStyle/>
          <a:p>
            <a:pPr indent="0" marL="0">
              <a:buNone/>
            </a:pPr>
            <a:r>
              <a:rPr lang="en-US" sz="2200" i="1" dirty="0">
                <a:solidFill>
                  <a:srgbClr val="B0603F"/>
                </a:solidFill>
                <a:latin typeface="Cambria" pitchFamily="34" charset="0"/>
                <a:ea typeface="Cambria" pitchFamily="34" charset="-122"/>
                <a:cs typeface="Cambria" pitchFamily="34" charset="-120"/>
              </a:rPr>
              <a:t>Questions?</a:t>
            </a:r>
            <a:endParaRPr lang="en-US" sz="2200" dirty="0"/>
          </a:p>
        </p:txBody>
      </p:sp>
      <p:sp>
        <p:nvSpPr>
          <p:cNvPr id="22" name="Text 16"/>
          <p:cNvSpPr txBox="1"/>
          <p:nvPr/>
        </p:nvSpPr>
        <p:spPr>
          <a:xfrm>
            <a:off x="5943600" y="2468880"/>
            <a:ext cx="2560320" cy="256032"/>
          </a:xfrm>
          <a:prstGeom prst="rect">
            <a:avLst/>
          </a:prstGeom>
          <a:noFill/>
          <a:ln/>
        </p:spPr>
        <p:txBody>
          <a:bodyPr wrap="square" lIns="0" tIns="0" rIns="0" bIns="0" rtlCol="0" anchor="t"/>
          <a:lstStyle/>
          <a:p>
            <a:pPr indent="0" marL="0">
              <a:buNone/>
            </a:pPr>
            <a:r>
              <a:rPr lang="en-US" sz="1100" b="1" dirty="0">
                <a:solidFill>
                  <a:srgbClr val="8A7462"/>
                </a:solidFill>
                <a:latin typeface="Calibri" pitchFamily="34" charset="0"/>
                <a:ea typeface="Calibri" pitchFamily="34" charset="-122"/>
                <a:cs typeface="Calibri" pitchFamily="34" charset="-120"/>
              </a:rPr>
              <a:t>CODE</a:t>
            </a:r>
            <a:endParaRPr lang="en-US" sz="1100" dirty="0"/>
          </a:p>
        </p:txBody>
      </p:sp>
      <p:sp>
        <p:nvSpPr>
          <p:cNvPr id="23" name="Text 17"/>
          <p:cNvSpPr txBox="1"/>
          <p:nvPr/>
        </p:nvSpPr>
        <p:spPr>
          <a:xfrm>
            <a:off x="5943600" y="2724912"/>
            <a:ext cx="2560320" cy="502920"/>
          </a:xfrm>
          <a:prstGeom prst="rect">
            <a:avLst/>
          </a:prstGeom>
          <a:noFill/>
          <a:ln/>
        </p:spPr>
        <p:txBody>
          <a:bodyPr wrap="square" lIns="0" tIns="0" rIns="0" bIns="0" rtlCol="0" anchor="t"/>
          <a:lstStyle/>
          <a:p>
            <a:pPr indent="0" marL="0">
              <a:buNone/>
            </a:pPr>
            <a:r>
              <a:rPr lang="en-US" sz="1100" u="sng" dirty="0">
                <a:solidFill>
                  <a:srgbClr val="B0603F"/>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github.com/angelabs-png/cipherchat</a:t>
            </a:r>
            <a:endParaRPr lang="en-US" sz="1100" dirty="0"/>
          </a:p>
        </p:txBody>
      </p:sp>
      <p:sp>
        <p:nvSpPr>
          <p:cNvPr id="24" name="Text 18"/>
          <p:cNvSpPr txBox="1"/>
          <p:nvPr/>
        </p:nvSpPr>
        <p:spPr>
          <a:xfrm>
            <a:off x="5943600" y="3291840"/>
            <a:ext cx="2560320" cy="256032"/>
          </a:xfrm>
          <a:prstGeom prst="rect">
            <a:avLst/>
          </a:prstGeom>
          <a:noFill/>
          <a:ln/>
        </p:spPr>
        <p:txBody>
          <a:bodyPr wrap="square" lIns="0" tIns="0" rIns="0" bIns="0" rtlCol="0" anchor="t"/>
          <a:lstStyle/>
          <a:p>
            <a:pPr indent="0" marL="0">
              <a:buNone/>
            </a:pPr>
            <a:r>
              <a:rPr lang="en-US" sz="1100" b="1" dirty="0">
                <a:solidFill>
                  <a:srgbClr val="8A7462"/>
                </a:solidFill>
                <a:latin typeface="Calibri" pitchFamily="34" charset="0"/>
                <a:ea typeface="Calibri" pitchFamily="34" charset="-122"/>
                <a:cs typeface="Calibri" pitchFamily="34" charset="-120"/>
              </a:rPr>
              <a:t>COURSE</a:t>
            </a:r>
            <a:endParaRPr lang="en-US" sz="1100" dirty="0"/>
          </a:p>
        </p:txBody>
      </p:sp>
      <p:sp>
        <p:nvSpPr>
          <p:cNvPr id="25" name="Text 19"/>
          <p:cNvSpPr txBox="1"/>
          <p:nvPr/>
        </p:nvSpPr>
        <p:spPr>
          <a:xfrm>
            <a:off x="5943600" y="3547872"/>
            <a:ext cx="2560320" cy="502920"/>
          </a:xfrm>
          <a:prstGeom prst="rect">
            <a:avLst/>
          </a:prstGeom>
          <a:noFill/>
          <a:ln/>
        </p:spPr>
        <p:txBody>
          <a:bodyPr wrap="square" lIns="0" tIns="0" rIns="0" bIns="0" rtlCol="0" anchor="t"/>
          <a:lstStyle/>
          <a:p>
            <a:pPr indent="0" marL="0">
              <a:buNone/>
            </a:pPr>
            <a:r>
              <a:rPr lang="en-US" sz="1100" u="sng" dirty="0">
                <a:solidFill>
                  <a:srgbClr val="B0603F"/>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Learn PGP from the beginning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CipherChat: Private Conversations with PGP Encryption</dc:title>
  <dc:subject>PptxGenJS Presentation</dc:subject>
  <dc:creator>Ange De Noella Mutesi</dc:creator>
  <cp:lastModifiedBy>Ange De Noella Mutesi</cp:lastModifiedBy>
  <cp:revision>1</cp:revision>
  <dcterms:created xsi:type="dcterms:W3CDTF">2026-09-29T10:42:37Z</dcterms:created>
  <dcterms:modified xsi:type="dcterms:W3CDTF">2026-09-29T10:42:37Z</dcterms:modified>
</cp:coreProperties>
</file>