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CipherChat is a chat app I built where messages are encrypted with PGP in the browser, so the server can never read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lock a message with Bob's public key, but only Bob's private key can unlock it. Signing works the other way round: you sign with your private key and others check it with your public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Keys are generated in the browser with OpenPGP.js. Each message or file is encrypted for the receiver and the sender and signed by the sender. The receiver's browser decrypts it and checks the signature. The server checks that it received real PGP data, stores it and forwards it, but never decrypts.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does all the cryptography. The Spring Boot backend handles accounts, checks the data and delivers messages, but it never has the keys to read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encryption happens in the browser, the server cannot read content, signatures prove who sent a message, and fingerprints catch a swapped key. The code and a full course are at these links.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angelabs-png/cipherchat" TargetMode="External"/><Relationship Id="rId2" Type="http://schemas.openxmlformats.org/officeDocument/2006/relationships/hyperlink" Target="https://angelabs-png.github.io/cipherchat/cybersecurity/pgp-from-the-beginning/"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EE4"/>
        </a:solidFill>
      </p:bgPr>
    </p:bg>
    <p:spTree>
      <p:nvGrpSpPr>
        <p:cNvPr id="1" name=""/>
        <p:cNvGrpSpPr/>
        <p:nvPr/>
      </p:nvGrpSpPr>
      <p:grpSpPr>
        <a:xfrm>
          <a:off x="0" y="0"/>
          <a:ext cx="0" cy="0"/>
          <a:chOff x="0" y="0"/>
          <a:chExt cx="0" cy="0"/>
        </a:xfrm>
      </p:grpSpPr>
      <p:sp>
        <p:nvSpPr>
          <p:cNvPr id="2" name="Text 0"/>
          <p:cNvSpPr txBox="1"/>
          <p:nvPr/>
        </p:nvSpPr>
        <p:spPr>
          <a:xfrm>
            <a:off x="731520" y="1463040"/>
            <a:ext cx="6949440" cy="1371600"/>
          </a:xfrm>
          <a:prstGeom prst="rect">
            <a:avLst/>
          </a:prstGeom>
          <a:noFill/>
          <a:ln/>
        </p:spPr>
        <p:txBody>
          <a:bodyPr wrap="square" lIns="0" tIns="0" rIns="0" bIns="0" rtlCol="0" anchor="b"/>
          <a:lstStyle/>
          <a:p>
            <a:pPr indent="0" marL="0">
              <a:buNone/>
            </a:pPr>
            <a:r>
              <a:rPr lang="en-US" sz="3600" b="1" dirty="0">
                <a:solidFill>
                  <a:srgbClr val="4A3B30"/>
                </a:solidFill>
                <a:latin typeface="Calibri" pitchFamily="34" charset="0"/>
                <a:ea typeface="Calibri" pitchFamily="34" charset="-122"/>
                <a:cs typeface="Calibri" pitchFamily="34" charset="-120"/>
              </a:rPr>
              <a:t>CipherChat: Private Conversations with PGP Encryption</a:t>
            </a:r>
            <a:endParaRPr lang="en-US" sz="3600" dirty="0"/>
          </a:p>
        </p:txBody>
      </p:sp>
      <p:sp>
        <p:nvSpPr>
          <p:cNvPr id="3" name="Text 1"/>
          <p:cNvSpPr txBox="1"/>
          <p:nvPr/>
        </p:nvSpPr>
        <p:spPr>
          <a:xfrm>
            <a:off x="731520" y="3063240"/>
            <a:ext cx="6949440" cy="365760"/>
          </a:xfrm>
          <a:prstGeom prst="rect">
            <a:avLst/>
          </a:prstGeom>
          <a:noFill/>
          <a:ln/>
        </p:spPr>
        <p:txBody>
          <a:bodyPr wrap="square" lIns="0" tIns="0" rIns="0" bIns="0" rtlCol="0" anchor="t"/>
          <a:lstStyle/>
          <a:p>
            <a:pPr indent="0" marL="0">
              <a:buNone/>
            </a:pPr>
            <a:r>
              <a:rPr lang="en-US" sz="1800" dirty="0">
                <a:solidFill>
                  <a:srgbClr val="65523F"/>
                </a:solidFill>
                <a:latin typeface="Calibri" pitchFamily="34" charset="0"/>
                <a:ea typeface="Calibri" pitchFamily="34" charset="-122"/>
                <a:cs typeface="Calibri" pitchFamily="34" charset="-120"/>
              </a:rPr>
              <a:t>Presented by Ange De Noella Mutesi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3"/>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t"/>
          <a:lstStyle/>
          <a:p>
            <a:pPr indent="0" marL="0">
              <a:buNone/>
            </a:pPr>
            <a:r>
              <a:rPr lang="en-US" sz="3000" b="1" dirty="0">
                <a:solidFill>
                  <a:srgbClr val="4A3B30"/>
                </a:solidFill>
                <a:latin typeface="Calibri" pitchFamily="34" charset="0"/>
                <a:ea typeface="Calibri" pitchFamily="34" charset="-122"/>
                <a:cs typeface="Calibri" pitchFamily="34" charset="-120"/>
              </a:rPr>
              <a:t>What is PGP?</a:t>
            </a:r>
            <a:endParaRPr lang="en-US" sz="3000" dirty="0"/>
          </a:p>
        </p:txBody>
      </p:sp>
      <p:sp>
        <p:nvSpPr>
          <p:cNvPr id="3" name="Text 1"/>
          <p:cNvSpPr txBox="1"/>
          <p:nvPr/>
        </p:nvSpPr>
        <p:spPr>
          <a:xfrm>
            <a:off x="548640" y="1234440"/>
            <a:ext cx="466344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4A3B30"/>
                </a:solidFill>
                <a:latin typeface="Calibri" pitchFamily="34" charset="0"/>
                <a:ea typeface="Calibri" pitchFamily="34" charset="-122"/>
                <a:cs typeface="Calibri" pitchFamily="34" charset="-120"/>
              </a:rPr>
              <a:t>Every user has two keys: a public key and a private key.</a:t>
            </a:r>
            <a:endParaRPr lang="en-US" sz="1600" dirty="0"/>
          </a:p>
          <a:p>
            <a:pPr marL="342900" indent="-342900">
              <a:spcAft>
                <a:spcPts val="1000"/>
              </a:spcAft>
              <a:buSzPct val="100000"/>
              <a:buChar char="•"/>
            </a:pPr>
            <a:r>
              <a:rPr lang="en-US" sz="1600" dirty="0">
                <a:solidFill>
                  <a:srgbClr val="4A3B30"/>
                </a:solidFill>
                <a:latin typeface="Calibri" pitchFamily="34" charset="0"/>
                <a:ea typeface="Calibri" pitchFamily="34" charset="-122"/>
                <a:cs typeface="Calibri" pitchFamily="34" charset="-120"/>
              </a:rPr>
              <a:t>The public key is shared. Anyone can use it to encrypt a message for you.</a:t>
            </a:r>
            <a:endParaRPr lang="en-US" sz="1600" dirty="0"/>
          </a:p>
          <a:p>
            <a:pPr marL="342900" indent="-342900">
              <a:spcAft>
                <a:spcPts val="1000"/>
              </a:spcAft>
              <a:buSzPct val="100000"/>
              <a:buChar char="•"/>
            </a:pPr>
            <a:r>
              <a:rPr lang="en-US" sz="1600" dirty="0">
                <a:solidFill>
                  <a:srgbClr val="4A3B30"/>
                </a:solidFill>
                <a:latin typeface="Calibri" pitchFamily="34" charset="0"/>
                <a:ea typeface="Calibri" pitchFamily="34" charset="-122"/>
                <a:cs typeface="Calibri" pitchFamily="34" charset="-120"/>
              </a:rPr>
              <a:t>The private key stays with you. Only it can decrypt that message.</a:t>
            </a:r>
            <a:endParaRPr lang="en-US" sz="1600" dirty="0"/>
          </a:p>
          <a:p>
            <a:pPr marL="342900" indent="-342900">
              <a:spcAft>
                <a:spcPts val="1000"/>
              </a:spcAft>
              <a:buSzPct val="100000"/>
              <a:buChar char="•"/>
            </a:pPr>
            <a:r>
              <a:rPr lang="en-US" sz="1600" dirty="0">
                <a:solidFill>
                  <a:srgbClr val="4A3B30"/>
                </a:solidFill>
                <a:latin typeface="Calibri" pitchFamily="34" charset="0"/>
                <a:ea typeface="Calibri" pitchFamily="34" charset="-122"/>
                <a:cs typeface="Calibri" pitchFamily="34" charset="-120"/>
              </a:rPr>
              <a:t>You sign with your private key, so people know the message is really from you.</a:t>
            </a:r>
            <a:endParaRPr lang="en-US" sz="1600" dirty="0"/>
          </a:p>
        </p:txBody>
      </p:sp>
      <p:sp>
        <p:nvSpPr>
          <p:cNvPr id="4" name="Text 2"/>
          <p:cNvSpPr txBox="1"/>
          <p:nvPr/>
        </p:nvSpPr>
        <p:spPr>
          <a:xfrm>
            <a:off x="548640" y="4114800"/>
            <a:ext cx="8046720" cy="274320"/>
          </a:xfrm>
          <a:prstGeom prst="rect">
            <a:avLst/>
          </a:prstGeom>
          <a:noFill/>
          <a:ln/>
        </p:spPr>
        <p:txBody>
          <a:bodyPr wrap="square" lIns="0" tIns="0" rIns="0" bIns="0" rtlCol="0" anchor="t"/>
          <a:lstStyle/>
          <a:p>
            <a:pPr indent="0" marL="0">
              <a:buNone/>
            </a:pPr>
            <a:r>
              <a:rPr lang="en-US" sz="1200" i="1" dirty="0">
                <a:solidFill>
                  <a:srgbClr val="8A7462"/>
                </a:solidFill>
                <a:latin typeface="Calibri" pitchFamily="34" charset="0"/>
                <a:ea typeface="Calibri" pitchFamily="34" charset="-122"/>
                <a:cs typeface="Calibri" pitchFamily="34" charset="-120"/>
              </a:rPr>
              <a:t>PGP was created in 1991. Today it is an open standard, OpenPGP (RFC 9580).</a:t>
            </a:r>
            <a:endParaRPr lang="en-US" sz="1200" dirty="0"/>
          </a:p>
        </p:txBody>
      </p:sp>
      <p:sp>
        <p:nvSpPr>
          <p:cNvPr id="5" name="Shape 3"/>
          <p:cNvSpPr/>
          <p:nvPr/>
        </p:nvSpPr>
        <p:spPr>
          <a:xfrm>
            <a:off x="5852160" y="1188720"/>
            <a:ext cx="2651760" cy="457200"/>
          </a:xfrm>
          <a:prstGeom prst="rect">
            <a:avLst/>
          </a:prstGeom>
          <a:solidFill>
            <a:srgbClr val="F3EADF"/>
          </a:solidFill>
          <a:ln w="12700">
            <a:solidFill>
              <a:srgbClr val="D6C7B3"/>
            </a:solidFill>
            <a:prstDash val="solid"/>
          </a:ln>
        </p:spPr>
      </p:sp>
      <p:sp>
        <p:nvSpPr>
          <p:cNvPr id="6" name="Text 4"/>
          <p:cNvSpPr txBox="1"/>
          <p:nvPr/>
        </p:nvSpPr>
        <p:spPr>
          <a:xfrm>
            <a:off x="5943600" y="1188720"/>
            <a:ext cx="2468880" cy="457200"/>
          </a:xfrm>
          <a:prstGeom prst="rect">
            <a:avLst/>
          </a:prstGeom>
          <a:noFill/>
          <a:ln/>
        </p:spPr>
        <p:txBody>
          <a:bodyPr wrap="square" lIns="0" tIns="0" rIns="0" bIns="0" rtlCol="0" anchor="ctr"/>
          <a:lstStyle/>
          <a:p>
            <a:pPr algn="ctr" indent="0" marL="0">
              <a:buNone/>
            </a:pPr>
            <a:r>
              <a:rPr lang="en-US" sz="1400" dirty="0">
                <a:solidFill>
                  <a:srgbClr val="4A3B30"/>
                </a:solidFill>
                <a:latin typeface="Calibri" pitchFamily="34" charset="0"/>
                <a:ea typeface="Calibri" pitchFamily="34" charset="-122"/>
                <a:cs typeface="Calibri" pitchFamily="34" charset="-120"/>
              </a:rPr>
              <a:t>Message</a:t>
            </a:r>
            <a:endParaRPr lang="en-US" sz="1400" dirty="0"/>
          </a:p>
        </p:txBody>
      </p:sp>
      <p:sp>
        <p:nvSpPr>
          <p:cNvPr id="7" name="Shape 5"/>
          <p:cNvSpPr/>
          <p:nvPr/>
        </p:nvSpPr>
        <p:spPr>
          <a:xfrm>
            <a:off x="7178040" y="1645920"/>
            <a:ext cx="0" cy="566928"/>
          </a:xfrm>
          <a:prstGeom prst="line">
            <a:avLst/>
          </a:prstGeom>
          <a:noFill/>
          <a:ln w="15875">
            <a:solidFill>
              <a:srgbClr val="8A7462"/>
            </a:solidFill>
            <a:prstDash val="solid"/>
            <a:tailEnd type="triangle"/>
          </a:ln>
        </p:spPr>
      </p:sp>
      <p:sp>
        <p:nvSpPr>
          <p:cNvPr id="8" name="Text 6"/>
          <p:cNvSpPr txBox="1"/>
          <p:nvPr/>
        </p:nvSpPr>
        <p:spPr>
          <a:xfrm>
            <a:off x="7269480" y="1737360"/>
            <a:ext cx="1554480" cy="411480"/>
          </a:xfrm>
          <a:prstGeom prst="rect">
            <a:avLst/>
          </a:prstGeom>
          <a:noFill/>
          <a:ln/>
        </p:spPr>
        <p:txBody>
          <a:bodyPr wrap="square" lIns="0" tIns="0" rIns="0" bIns="0" rtlCol="0" anchor="t"/>
          <a:lstStyle/>
          <a:p>
            <a:pPr indent="0" marL="0">
              <a:buNone/>
            </a:pPr>
            <a:r>
              <a:rPr lang="en-US" sz="1000" dirty="0">
                <a:solidFill>
                  <a:srgbClr val="B0603F"/>
                </a:solidFill>
                <a:latin typeface="Calibri" pitchFamily="34" charset="0"/>
                <a:ea typeface="Calibri" pitchFamily="34" charset="-122"/>
                <a:cs typeface="Calibri" pitchFamily="34" charset="-120"/>
              </a:rPr>
              <a:t>encrypt with Bob's public key</a:t>
            </a:r>
            <a:endParaRPr lang="en-US" sz="1000" dirty="0"/>
          </a:p>
        </p:txBody>
      </p:sp>
      <p:sp>
        <p:nvSpPr>
          <p:cNvPr id="9" name="Shape 7"/>
          <p:cNvSpPr/>
          <p:nvPr/>
        </p:nvSpPr>
        <p:spPr>
          <a:xfrm>
            <a:off x="5852160" y="2212848"/>
            <a:ext cx="2651760" cy="457200"/>
          </a:xfrm>
          <a:prstGeom prst="rect">
            <a:avLst/>
          </a:prstGeom>
          <a:solidFill>
            <a:srgbClr val="F3EADF"/>
          </a:solidFill>
          <a:ln w="12700">
            <a:solidFill>
              <a:srgbClr val="D6C7B3"/>
            </a:solidFill>
            <a:prstDash val="solid"/>
          </a:ln>
        </p:spPr>
      </p:sp>
      <p:sp>
        <p:nvSpPr>
          <p:cNvPr id="10" name="Text 8"/>
          <p:cNvSpPr txBox="1"/>
          <p:nvPr/>
        </p:nvSpPr>
        <p:spPr>
          <a:xfrm>
            <a:off x="5943600" y="2212848"/>
            <a:ext cx="2468880" cy="457200"/>
          </a:xfrm>
          <a:prstGeom prst="rect">
            <a:avLst/>
          </a:prstGeom>
          <a:noFill/>
          <a:ln/>
        </p:spPr>
        <p:txBody>
          <a:bodyPr wrap="square" lIns="0" tIns="0" rIns="0" bIns="0" rtlCol="0" anchor="ctr"/>
          <a:lstStyle/>
          <a:p>
            <a:pPr algn="ctr" indent="0" marL="0">
              <a:buNone/>
            </a:pPr>
            <a:r>
              <a:rPr lang="en-US" sz="1300" dirty="0">
                <a:solidFill>
                  <a:srgbClr val="4A3B30"/>
                </a:solidFill>
                <a:latin typeface="Courier New" pitchFamily="34" charset="0"/>
                <a:ea typeface="Courier New" pitchFamily="34" charset="-122"/>
                <a:cs typeface="Courier New" pitchFamily="34" charset="-120"/>
              </a:rPr>
              <a:t>Scrambled text</a:t>
            </a:r>
            <a:endParaRPr lang="en-US" sz="1300" dirty="0"/>
          </a:p>
        </p:txBody>
      </p:sp>
      <p:sp>
        <p:nvSpPr>
          <p:cNvPr id="11" name="Shape 9"/>
          <p:cNvSpPr/>
          <p:nvPr/>
        </p:nvSpPr>
        <p:spPr>
          <a:xfrm>
            <a:off x="7178040" y="2670048"/>
            <a:ext cx="0" cy="566928"/>
          </a:xfrm>
          <a:prstGeom prst="line">
            <a:avLst/>
          </a:prstGeom>
          <a:noFill/>
          <a:ln w="15875">
            <a:solidFill>
              <a:srgbClr val="8A7462"/>
            </a:solidFill>
            <a:prstDash val="solid"/>
            <a:tailEnd type="triangle"/>
          </a:ln>
        </p:spPr>
      </p:sp>
      <p:sp>
        <p:nvSpPr>
          <p:cNvPr id="12" name="Text 10"/>
          <p:cNvSpPr txBox="1"/>
          <p:nvPr/>
        </p:nvSpPr>
        <p:spPr>
          <a:xfrm>
            <a:off x="7269480" y="2761488"/>
            <a:ext cx="1554480" cy="411480"/>
          </a:xfrm>
          <a:prstGeom prst="rect">
            <a:avLst/>
          </a:prstGeom>
          <a:noFill/>
          <a:ln/>
        </p:spPr>
        <p:txBody>
          <a:bodyPr wrap="square" lIns="0" tIns="0" rIns="0" bIns="0" rtlCol="0" anchor="t"/>
          <a:lstStyle/>
          <a:p>
            <a:pPr indent="0" marL="0">
              <a:buNone/>
            </a:pPr>
            <a:r>
              <a:rPr lang="en-US" sz="1000" dirty="0">
                <a:solidFill>
                  <a:srgbClr val="B0603F"/>
                </a:solidFill>
                <a:latin typeface="Calibri" pitchFamily="34" charset="0"/>
                <a:ea typeface="Calibri" pitchFamily="34" charset="-122"/>
                <a:cs typeface="Calibri" pitchFamily="34" charset="-120"/>
              </a:rPr>
              <a:t>decrypt with Bob's private key</a:t>
            </a:r>
            <a:endParaRPr lang="en-US" sz="1000" dirty="0"/>
          </a:p>
        </p:txBody>
      </p:sp>
      <p:sp>
        <p:nvSpPr>
          <p:cNvPr id="13" name="Shape 11"/>
          <p:cNvSpPr/>
          <p:nvPr/>
        </p:nvSpPr>
        <p:spPr>
          <a:xfrm>
            <a:off x="5852160" y="3236976"/>
            <a:ext cx="2651760" cy="457200"/>
          </a:xfrm>
          <a:prstGeom prst="rect">
            <a:avLst/>
          </a:prstGeom>
          <a:solidFill>
            <a:srgbClr val="F3EADF"/>
          </a:solidFill>
          <a:ln w="12700">
            <a:solidFill>
              <a:srgbClr val="D6C7B3"/>
            </a:solidFill>
            <a:prstDash val="solid"/>
          </a:ln>
        </p:spPr>
      </p:sp>
      <p:sp>
        <p:nvSpPr>
          <p:cNvPr id="14" name="Text 12"/>
          <p:cNvSpPr txBox="1"/>
          <p:nvPr/>
        </p:nvSpPr>
        <p:spPr>
          <a:xfrm>
            <a:off x="5943600" y="3236976"/>
            <a:ext cx="2468880" cy="457200"/>
          </a:xfrm>
          <a:prstGeom prst="rect">
            <a:avLst/>
          </a:prstGeom>
          <a:noFill/>
          <a:ln/>
        </p:spPr>
        <p:txBody>
          <a:bodyPr wrap="square" lIns="0" tIns="0" rIns="0" bIns="0" rtlCol="0" anchor="ctr"/>
          <a:lstStyle/>
          <a:p>
            <a:pPr algn="ctr" indent="0" marL="0">
              <a:buNone/>
            </a:pPr>
            <a:r>
              <a:rPr lang="en-US" sz="1400" dirty="0">
                <a:solidFill>
                  <a:srgbClr val="4A3B30"/>
                </a:solidFill>
                <a:latin typeface="Calibri" pitchFamily="34" charset="0"/>
                <a:ea typeface="Calibri" pitchFamily="34" charset="-122"/>
                <a:cs typeface="Calibri" pitchFamily="34" charset="-120"/>
              </a:rPr>
              <a:t>Message</a:t>
            </a:r>
            <a:endParaRPr lang="en-US" sz="1400" dirty="0"/>
          </a:p>
        </p:txBody>
      </p:sp>
      <p:sp>
        <p:nvSpPr>
          <p:cNvPr id="15" name="Text 13"/>
          <p:cNvSpPr txBox="1"/>
          <p:nvPr/>
        </p:nvSpPr>
        <p:spPr>
          <a:xfrm>
            <a:off x="548640" y="4754880"/>
            <a:ext cx="2743200" cy="228600"/>
          </a:xfrm>
          <a:prstGeom prst="rect">
            <a:avLst/>
          </a:prstGeom>
          <a:noFill/>
          <a:ln/>
        </p:spPr>
        <p:txBody>
          <a:bodyPr wrap="square" lIns="0" tIns="0" rIns="0" bIns="0" rtlCol="0" anchor="t"/>
          <a:lstStyle/>
          <a:p>
            <a:pPr indent="0" marL="0">
              <a:buNone/>
            </a:pPr>
            <a:r>
              <a:rPr lang="en-US" sz="1000" dirty="0">
                <a:solidFill>
                  <a:srgbClr val="8A7462"/>
                </a:solidFill>
                <a:latin typeface="Calibri" pitchFamily="34" charset="0"/>
                <a:ea typeface="Calibri" pitchFamily="34" charset="-122"/>
                <a:cs typeface="Calibri" pitchFamily="34" charset="-120"/>
              </a:rPr>
              <a:t>CipherChat</a:t>
            </a:r>
            <a:endParaRPr lang="en-US" sz="1000" dirty="0"/>
          </a:p>
        </p:txBody>
      </p:sp>
      <p:sp>
        <p:nvSpPr>
          <p:cNvPr id="16" name="Text 14"/>
          <p:cNvSpPr txBox="1"/>
          <p:nvPr/>
        </p:nvSpPr>
        <p:spPr>
          <a:xfrm>
            <a:off x="8138160" y="4754880"/>
            <a:ext cx="457200" cy="228600"/>
          </a:xfrm>
          <a:prstGeom prst="rect">
            <a:avLst/>
          </a:prstGeom>
          <a:noFill/>
          <a:ln/>
        </p:spPr>
        <p:txBody>
          <a:bodyPr wrap="square" lIns="0" tIns="0" rIns="0" bIns="0" rtlCol="0" anchor="t"/>
          <a:lstStyle/>
          <a:p>
            <a:pPr algn="r" indent="0" marL="0">
              <a:buNone/>
            </a:pPr>
            <a:r>
              <a:rPr lang="en-US" sz="1000" dirty="0">
                <a:solidFill>
                  <a:srgbClr val="8A746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3"/>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t"/>
          <a:lstStyle/>
          <a:p>
            <a:pPr indent="0" marL="0">
              <a:buNone/>
            </a:pPr>
            <a:r>
              <a:rPr lang="en-US" sz="3000" b="1" dirty="0">
                <a:solidFill>
                  <a:srgbClr val="4A3B30"/>
                </a:solidFill>
                <a:latin typeface="Calibri" pitchFamily="34" charset="0"/>
                <a:ea typeface="Calibri" pitchFamily="34" charset="-122"/>
                <a:cs typeface="Calibri" pitchFamily="34" charset="-120"/>
              </a:rPr>
              <a:t>How CipherChat uses PGP</a:t>
            </a:r>
            <a:endParaRPr lang="en-US" sz="3000" dirty="0"/>
          </a:p>
        </p:txBody>
      </p:sp>
      <p:sp>
        <p:nvSpPr>
          <p:cNvPr id="3" name="Shape 1"/>
          <p:cNvSpPr/>
          <p:nvPr/>
        </p:nvSpPr>
        <p:spPr>
          <a:xfrm>
            <a:off x="548640" y="1325880"/>
            <a:ext cx="1691640" cy="1005840"/>
          </a:xfrm>
          <a:prstGeom prst="rect">
            <a:avLst/>
          </a:prstGeom>
          <a:solidFill>
            <a:srgbClr val="F3EADF"/>
          </a:solidFill>
          <a:ln w="12700">
            <a:solidFill>
              <a:srgbClr val="D6C7B3"/>
            </a:solidFill>
            <a:prstDash val="solid"/>
          </a:ln>
        </p:spPr>
      </p:sp>
      <p:sp>
        <p:nvSpPr>
          <p:cNvPr id="4" name="Text 2"/>
          <p:cNvSpPr txBox="1"/>
          <p:nvPr/>
        </p:nvSpPr>
        <p:spPr>
          <a:xfrm>
            <a:off x="640080" y="1325880"/>
            <a:ext cx="1508760" cy="1005840"/>
          </a:xfrm>
          <a:prstGeom prst="rect">
            <a:avLst/>
          </a:prstGeom>
          <a:noFill/>
          <a:ln/>
        </p:spPr>
        <p:txBody>
          <a:bodyPr wrap="square" lIns="0" tIns="0" rIns="0" bIns="0" rtlCol="0" anchor="ctr"/>
          <a:lstStyle/>
          <a:p>
            <a:pPr algn="ctr" indent="0" marL="0">
              <a:buNone/>
            </a:pPr>
            <a:r>
              <a:rPr lang="en-US" sz="1350" dirty="0">
                <a:solidFill>
                  <a:srgbClr val="4A3B30"/>
                </a:solidFill>
                <a:latin typeface="Calibri" pitchFamily="34" charset="0"/>
                <a:ea typeface="Calibri" pitchFamily="34" charset="-122"/>
                <a:cs typeface="Calibri" pitchFamily="34" charset="-120"/>
              </a:rPr>
              <a:t>1. Create an account</a:t>
            </a:r>
            <a:endParaRPr lang="en-US" sz="1350" dirty="0"/>
          </a:p>
        </p:txBody>
      </p:sp>
      <p:sp>
        <p:nvSpPr>
          <p:cNvPr id="5" name="Shape 3"/>
          <p:cNvSpPr/>
          <p:nvPr/>
        </p:nvSpPr>
        <p:spPr>
          <a:xfrm>
            <a:off x="2295144" y="1828800"/>
            <a:ext cx="320040" cy="0"/>
          </a:xfrm>
          <a:prstGeom prst="line">
            <a:avLst/>
          </a:prstGeom>
          <a:noFill/>
          <a:ln w="15875">
            <a:solidFill>
              <a:srgbClr val="8A7462"/>
            </a:solidFill>
            <a:prstDash val="solid"/>
            <a:tailEnd type="triangle"/>
          </a:ln>
        </p:spPr>
      </p:sp>
      <p:sp>
        <p:nvSpPr>
          <p:cNvPr id="6" name="Shape 4"/>
          <p:cNvSpPr/>
          <p:nvPr/>
        </p:nvSpPr>
        <p:spPr>
          <a:xfrm>
            <a:off x="2670048" y="1325880"/>
            <a:ext cx="1691640" cy="1005840"/>
          </a:xfrm>
          <a:prstGeom prst="rect">
            <a:avLst/>
          </a:prstGeom>
          <a:solidFill>
            <a:srgbClr val="F3EADF"/>
          </a:solidFill>
          <a:ln w="12700">
            <a:solidFill>
              <a:srgbClr val="D6C7B3"/>
            </a:solidFill>
            <a:prstDash val="solid"/>
          </a:ln>
        </p:spPr>
      </p:sp>
      <p:sp>
        <p:nvSpPr>
          <p:cNvPr id="7" name="Text 5"/>
          <p:cNvSpPr txBox="1"/>
          <p:nvPr/>
        </p:nvSpPr>
        <p:spPr>
          <a:xfrm>
            <a:off x="2761488" y="1325880"/>
            <a:ext cx="1508760" cy="1005840"/>
          </a:xfrm>
          <a:prstGeom prst="rect">
            <a:avLst/>
          </a:prstGeom>
          <a:noFill/>
          <a:ln/>
        </p:spPr>
        <p:txBody>
          <a:bodyPr wrap="square" lIns="0" tIns="0" rIns="0" bIns="0" rtlCol="0" anchor="ctr"/>
          <a:lstStyle/>
          <a:p>
            <a:pPr algn="ctr" indent="0" marL="0">
              <a:buNone/>
            </a:pPr>
            <a:r>
              <a:rPr lang="en-US" sz="1350" dirty="0">
                <a:solidFill>
                  <a:srgbClr val="4A3B30"/>
                </a:solidFill>
                <a:latin typeface="Calibri" pitchFamily="34" charset="0"/>
                <a:ea typeface="Calibri" pitchFamily="34" charset="-122"/>
                <a:cs typeface="Calibri" pitchFamily="34" charset="-120"/>
              </a:rPr>
              <a:t>2. The browser creates your keys</a:t>
            </a:r>
            <a:endParaRPr lang="en-US" sz="1350" dirty="0"/>
          </a:p>
        </p:txBody>
      </p:sp>
      <p:sp>
        <p:nvSpPr>
          <p:cNvPr id="8" name="Shape 6"/>
          <p:cNvSpPr/>
          <p:nvPr/>
        </p:nvSpPr>
        <p:spPr>
          <a:xfrm>
            <a:off x="4416552" y="1828800"/>
            <a:ext cx="320040" cy="0"/>
          </a:xfrm>
          <a:prstGeom prst="line">
            <a:avLst/>
          </a:prstGeom>
          <a:noFill/>
          <a:ln w="15875">
            <a:solidFill>
              <a:srgbClr val="8A7462"/>
            </a:solidFill>
            <a:prstDash val="solid"/>
            <a:tailEnd type="triangle"/>
          </a:ln>
        </p:spPr>
      </p:sp>
      <p:sp>
        <p:nvSpPr>
          <p:cNvPr id="9" name="Shape 7"/>
          <p:cNvSpPr/>
          <p:nvPr/>
        </p:nvSpPr>
        <p:spPr>
          <a:xfrm>
            <a:off x="4791456" y="1325880"/>
            <a:ext cx="1691640" cy="1005840"/>
          </a:xfrm>
          <a:prstGeom prst="rect">
            <a:avLst/>
          </a:prstGeom>
          <a:solidFill>
            <a:srgbClr val="F3EADF"/>
          </a:solidFill>
          <a:ln w="12700">
            <a:solidFill>
              <a:srgbClr val="D6C7B3"/>
            </a:solidFill>
            <a:prstDash val="solid"/>
          </a:ln>
        </p:spPr>
      </p:sp>
      <p:sp>
        <p:nvSpPr>
          <p:cNvPr id="10" name="Text 8"/>
          <p:cNvSpPr txBox="1"/>
          <p:nvPr/>
        </p:nvSpPr>
        <p:spPr>
          <a:xfrm>
            <a:off x="4882896" y="1325880"/>
            <a:ext cx="1508760" cy="1005840"/>
          </a:xfrm>
          <a:prstGeom prst="rect">
            <a:avLst/>
          </a:prstGeom>
          <a:noFill/>
          <a:ln/>
        </p:spPr>
        <p:txBody>
          <a:bodyPr wrap="square" lIns="0" tIns="0" rIns="0" bIns="0" rtlCol="0" anchor="ctr"/>
          <a:lstStyle/>
          <a:p>
            <a:pPr algn="ctr" indent="0" marL="0">
              <a:buNone/>
            </a:pPr>
            <a:r>
              <a:rPr lang="en-US" sz="1350" dirty="0">
                <a:solidFill>
                  <a:srgbClr val="4A3B30"/>
                </a:solidFill>
                <a:latin typeface="Calibri" pitchFamily="34" charset="0"/>
                <a:ea typeface="Calibri" pitchFamily="34" charset="-122"/>
                <a:cs typeface="Calibri" pitchFamily="34" charset="-120"/>
              </a:rPr>
              <a:t>3. Send a message or file, encrypted and signed</a:t>
            </a:r>
            <a:endParaRPr lang="en-US" sz="1350" dirty="0"/>
          </a:p>
        </p:txBody>
      </p:sp>
      <p:sp>
        <p:nvSpPr>
          <p:cNvPr id="11" name="Shape 9"/>
          <p:cNvSpPr/>
          <p:nvPr/>
        </p:nvSpPr>
        <p:spPr>
          <a:xfrm>
            <a:off x="6537960" y="1828800"/>
            <a:ext cx="320040" cy="0"/>
          </a:xfrm>
          <a:prstGeom prst="line">
            <a:avLst/>
          </a:prstGeom>
          <a:noFill/>
          <a:ln w="15875">
            <a:solidFill>
              <a:srgbClr val="8A7462"/>
            </a:solidFill>
            <a:prstDash val="solid"/>
            <a:tailEnd type="triangle"/>
          </a:ln>
        </p:spPr>
      </p:sp>
      <p:sp>
        <p:nvSpPr>
          <p:cNvPr id="12" name="Shape 10"/>
          <p:cNvSpPr/>
          <p:nvPr/>
        </p:nvSpPr>
        <p:spPr>
          <a:xfrm>
            <a:off x="6912864" y="1325880"/>
            <a:ext cx="1691640" cy="1005840"/>
          </a:xfrm>
          <a:prstGeom prst="rect">
            <a:avLst/>
          </a:prstGeom>
          <a:solidFill>
            <a:srgbClr val="F3EADF"/>
          </a:solidFill>
          <a:ln w="12700">
            <a:solidFill>
              <a:srgbClr val="D6C7B3"/>
            </a:solidFill>
            <a:prstDash val="solid"/>
          </a:ln>
        </p:spPr>
      </p:sp>
      <p:sp>
        <p:nvSpPr>
          <p:cNvPr id="13" name="Text 11"/>
          <p:cNvSpPr txBox="1"/>
          <p:nvPr/>
        </p:nvSpPr>
        <p:spPr>
          <a:xfrm>
            <a:off x="7004304" y="1325880"/>
            <a:ext cx="1508760" cy="1005840"/>
          </a:xfrm>
          <a:prstGeom prst="rect">
            <a:avLst/>
          </a:prstGeom>
          <a:noFill/>
          <a:ln/>
        </p:spPr>
        <p:txBody>
          <a:bodyPr wrap="square" lIns="0" tIns="0" rIns="0" bIns="0" rtlCol="0" anchor="ctr"/>
          <a:lstStyle/>
          <a:p>
            <a:pPr algn="ctr" indent="0" marL="0">
              <a:buNone/>
            </a:pPr>
            <a:r>
              <a:rPr lang="en-US" sz="1350" dirty="0">
                <a:solidFill>
                  <a:srgbClr val="4A3B30"/>
                </a:solidFill>
                <a:latin typeface="Calibri" pitchFamily="34" charset="0"/>
                <a:ea typeface="Calibri" pitchFamily="34" charset="-122"/>
                <a:cs typeface="Calibri" pitchFamily="34" charset="-120"/>
              </a:rPr>
              <a:t>4. The receiver decrypts it and sees "Verified"</a:t>
            </a:r>
            <a:endParaRPr lang="en-US" sz="1350" dirty="0"/>
          </a:p>
        </p:txBody>
      </p:sp>
      <p:sp>
        <p:nvSpPr>
          <p:cNvPr id="14" name="Text 12"/>
          <p:cNvSpPr txBox="1"/>
          <p:nvPr/>
        </p:nvSpPr>
        <p:spPr>
          <a:xfrm>
            <a:off x="548640" y="2606040"/>
            <a:ext cx="8046720" cy="365760"/>
          </a:xfrm>
          <a:prstGeom prst="rect">
            <a:avLst/>
          </a:prstGeom>
          <a:noFill/>
          <a:ln/>
        </p:spPr>
        <p:txBody>
          <a:bodyPr wrap="square" lIns="0" tIns="0" rIns="0" bIns="0" rtlCol="0" anchor="t"/>
          <a:lstStyle/>
          <a:p>
            <a:pPr indent="0" marL="0">
              <a:buNone/>
            </a:pPr>
            <a:r>
              <a:rPr lang="en-US" sz="1400" dirty="0">
                <a:solidFill>
                  <a:srgbClr val="65523F"/>
                </a:solidFill>
                <a:latin typeface="Calibri" pitchFamily="34" charset="0"/>
                <a:ea typeface="Calibri" pitchFamily="34" charset="-122"/>
                <a:cs typeface="Calibri" pitchFamily="34" charset="-120"/>
              </a:rPr>
              <a:t>Only the public key is sent to the server. The private key never leaves the browser.</a:t>
            </a:r>
            <a:endParaRPr lang="en-US" sz="1400" dirty="0"/>
          </a:p>
        </p:txBody>
      </p:sp>
      <p:sp>
        <p:nvSpPr>
          <p:cNvPr id="15" name="Text 13"/>
          <p:cNvSpPr txBox="1"/>
          <p:nvPr/>
        </p:nvSpPr>
        <p:spPr>
          <a:xfrm>
            <a:off x="548640" y="3246120"/>
            <a:ext cx="8046720" cy="822960"/>
          </a:xfrm>
          <a:prstGeom prst="rect">
            <a:avLst/>
          </a:prstGeom>
          <a:noFill/>
          <a:ln/>
        </p:spPr>
        <p:txBody>
          <a:bodyPr wrap="square" lIns="0" tIns="0" rIns="0" bIns="0" rtlCol="0" anchor="t"/>
          <a:lstStyle/>
          <a:p>
            <a:pPr indent="0" marL="0">
              <a:buNone/>
            </a:pPr>
            <a:r>
              <a:rPr lang="en-US" sz="2000" b="1" dirty="0">
                <a:solidFill>
                  <a:srgbClr val="B0603F"/>
                </a:solidFill>
                <a:latin typeface="Calibri" pitchFamily="34" charset="0"/>
                <a:ea typeface="Calibri" pitchFamily="34" charset="-122"/>
                <a:cs typeface="Calibri" pitchFamily="34" charset="-120"/>
              </a:rPr>
              <a:t>The server only ever sees scrambled text.</a:t>
            </a:r>
            <a:endParaRPr lang="en-US" sz="2000" dirty="0"/>
          </a:p>
          <a:p>
            <a:pPr indent="0" marL="0">
              <a:buNone/>
            </a:pPr>
            <a:r>
              <a:rPr lang="en-US" sz="2000" dirty="0">
                <a:solidFill>
                  <a:srgbClr val="4A3B30"/>
                </a:solidFill>
                <a:latin typeface="Calibri" pitchFamily="34" charset="0"/>
                <a:ea typeface="Calibri" pitchFamily="34" charset="-122"/>
                <a:cs typeface="Calibri" pitchFamily="34" charset="-120"/>
              </a:rPr>
              <a:t>It stores and delivers messages, but it cannot read them.</a:t>
            </a:r>
            <a:endParaRPr lang="en-US" sz="2000" dirty="0"/>
          </a:p>
        </p:txBody>
      </p:sp>
      <p:sp>
        <p:nvSpPr>
          <p:cNvPr id="16" name="Text 14"/>
          <p:cNvSpPr txBox="1"/>
          <p:nvPr/>
        </p:nvSpPr>
        <p:spPr>
          <a:xfrm>
            <a:off x="548640" y="4754880"/>
            <a:ext cx="2743200" cy="228600"/>
          </a:xfrm>
          <a:prstGeom prst="rect">
            <a:avLst/>
          </a:prstGeom>
          <a:noFill/>
          <a:ln/>
        </p:spPr>
        <p:txBody>
          <a:bodyPr wrap="square" lIns="0" tIns="0" rIns="0" bIns="0" rtlCol="0" anchor="t"/>
          <a:lstStyle/>
          <a:p>
            <a:pPr indent="0" marL="0">
              <a:buNone/>
            </a:pPr>
            <a:r>
              <a:rPr lang="en-US" sz="1000" dirty="0">
                <a:solidFill>
                  <a:srgbClr val="8A7462"/>
                </a:solidFill>
                <a:latin typeface="Calibri" pitchFamily="34" charset="0"/>
                <a:ea typeface="Calibri" pitchFamily="34" charset="-122"/>
                <a:cs typeface="Calibri" pitchFamily="34" charset="-120"/>
              </a:rPr>
              <a:t>CipherChat</a:t>
            </a:r>
            <a:endParaRPr lang="en-US" sz="1000" dirty="0"/>
          </a:p>
        </p:txBody>
      </p:sp>
      <p:sp>
        <p:nvSpPr>
          <p:cNvPr id="17" name="Text 15"/>
          <p:cNvSpPr txBox="1"/>
          <p:nvPr/>
        </p:nvSpPr>
        <p:spPr>
          <a:xfrm>
            <a:off x="8138160" y="4754880"/>
            <a:ext cx="457200" cy="228600"/>
          </a:xfrm>
          <a:prstGeom prst="rect">
            <a:avLst/>
          </a:prstGeom>
          <a:noFill/>
          <a:ln/>
        </p:spPr>
        <p:txBody>
          <a:bodyPr wrap="square" lIns="0" tIns="0" rIns="0" bIns="0" rtlCol="0" anchor="t"/>
          <a:lstStyle/>
          <a:p>
            <a:pPr algn="r" indent="0" marL="0">
              <a:buNone/>
            </a:pPr>
            <a:r>
              <a:rPr lang="en-US" sz="1000" dirty="0">
                <a:solidFill>
                  <a:srgbClr val="8A746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3"/>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t"/>
          <a:lstStyle/>
          <a:p>
            <a:pPr indent="0" marL="0">
              <a:buNone/>
            </a:pPr>
            <a:r>
              <a:rPr lang="en-US" sz="3000" b="1" dirty="0">
                <a:solidFill>
                  <a:srgbClr val="4A3B30"/>
                </a:solidFill>
                <a:latin typeface="Calibri" pitchFamily="34" charset="0"/>
                <a:ea typeface="Calibri" pitchFamily="34" charset="-122"/>
                <a:cs typeface="Calibri" pitchFamily="34" charset="-120"/>
              </a:rPr>
              <a:t>Technologies and why</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2651760"/>
                <a:gridCol w="5394960"/>
              </a:tblGrid>
              <a:tr h="356616">
                <a:tc>
                  <a:txBody>
                    <a:bodyPr/>
                    <a:lstStyle/>
                    <a:p>
                      <a:pPr indent="0" marL="0">
                        <a:buNone/>
                      </a:pPr>
                      <a:r>
                        <a:rPr lang="en-US" sz="1300" b="1" dirty="0">
                          <a:solidFill>
                            <a:srgbClr val="4A3B30"/>
                          </a:solidFill>
                          <a:latin typeface="Calibri" pitchFamily="34" charset="0"/>
                          <a:ea typeface="Calibri" pitchFamily="34" charset="-122"/>
                          <a:cs typeface="Calibri" pitchFamily="34" charset="-120"/>
                        </a:rPr>
                        <a:t>Technology</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solidFill>
                      <a:srgbClr val="F5EEE4"/>
                    </a:solidFill>
                  </a:tcPr>
                </a:tc>
                <a:tc>
                  <a:txBody>
                    <a:bodyPr/>
                    <a:lstStyle/>
                    <a:p>
                      <a:pPr indent="0" marL="0">
                        <a:buNone/>
                      </a:pPr>
                      <a:r>
                        <a:rPr lang="en-US" sz="1300" b="1" dirty="0">
                          <a:solidFill>
                            <a:srgbClr val="4A3B30"/>
                          </a:solidFill>
                          <a:latin typeface="Calibri" pitchFamily="34" charset="0"/>
                          <a:ea typeface="Calibri" pitchFamily="34" charset="-122"/>
                          <a:cs typeface="Calibri" pitchFamily="34" charset="-120"/>
                        </a:rPr>
                        <a:t>Why I used it</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solidFill>
                      <a:srgbClr val="F5EEE4"/>
                    </a:solidFill>
                  </a:tcPr>
                </a:tc>
              </a:tr>
              <a:tr h="356616">
                <a:tc>
                  <a:txBody>
                    <a:bodyPr/>
                    <a:lstStyle/>
                    <a:p>
                      <a:pPr indent="0" marL="0">
                        <a:buNone/>
                      </a:pPr>
                      <a:r>
                        <a:rPr lang="en-US" sz="1300" b="1" dirty="0">
                          <a:solidFill>
                            <a:srgbClr val="4A3B30"/>
                          </a:solidFill>
                          <a:latin typeface="Calibri" pitchFamily="34" charset="0"/>
                          <a:ea typeface="Calibri" pitchFamily="34" charset="-122"/>
                          <a:cs typeface="Calibri" pitchFamily="34" charset="-120"/>
                        </a:rPr>
                        <a:t>Next.js</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c>
                  <a:txBody>
                    <a:bodyPr/>
                    <a:lstStyle/>
                    <a:p>
                      <a:pPr indent="0" marL="0">
                        <a:buNone/>
                      </a:pPr>
                      <a:r>
                        <a:rPr lang="en-US" sz="1300" dirty="0">
                          <a:solidFill>
                            <a:srgbClr val="4A3B30"/>
                          </a:solidFill>
                          <a:latin typeface="Calibri" pitchFamily="34" charset="0"/>
                          <a:ea typeface="Calibri" pitchFamily="34" charset="-122"/>
                          <a:cs typeface="Calibri" pitchFamily="34" charset="-120"/>
                        </a:rPr>
                        <a:t>The user interface in the browser</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r>
              <a:tr h="356616">
                <a:tc>
                  <a:txBody>
                    <a:bodyPr/>
                    <a:lstStyle/>
                    <a:p>
                      <a:pPr indent="0" marL="0">
                        <a:buNone/>
                      </a:pPr>
                      <a:r>
                        <a:rPr lang="en-US" sz="1300" b="1" dirty="0">
                          <a:solidFill>
                            <a:srgbClr val="4A3B30"/>
                          </a:solidFill>
                          <a:latin typeface="Calibri" pitchFamily="34" charset="0"/>
                          <a:ea typeface="Calibri" pitchFamily="34" charset="-122"/>
                          <a:cs typeface="Calibri" pitchFamily="34" charset="-120"/>
                        </a:rPr>
                        <a:t>OpenPGP.js</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c>
                  <a:txBody>
                    <a:bodyPr/>
                    <a:lstStyle/>
                    <a:p>
                      <a:pPr indent="0" marL="0">
                        <a:buNone/>
                      </a:pPr>
                      <a:r>
                        <a:rPr lang="en-US" sz="1300" dirty="0">
                          <a:solidFill>
                            <a:srgbClr val="4A3B30"/>
                          </a:solidFill>
                          <a:latin typeface="Calibri" pitchFamily="34" charset="0"/>
                          <a:ea typeface="Calibri" pitchFamily="34" charset="-122"/>
                          <a:cs typeface="Calibri" pitchFamily="34" charset="-120"/>
                        </a:rPr>
                        <a:t>Creates keys, encrypts, signs and decrypts in the browser</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r>
              <a:tr h="356616">
                <a:tc>
                  <a:txBody>
                    <a:bodyPr/>
                    <a:lstStyle/>
                    <a:p>
                      <a:pPr indent="0" marL="0">
                        <a:buNone/>
                      </a:pPr>
                      <a:r>
                        <a:rPr lang="en-US" sz="1300" b="1" dirty="0">
                          <a:solidFill>
                            <a:srgbClr val="4A3B30"/>
                          </a:solidFill>
                          <a:latin typeface="Calibri" pitchFamily="34" charset="0"/>
                          <a:ea typeface="Calibri" pitchFamily="34" charset="-122"/>
                          <a:cs typeface="Calibri" pitchFamily="34" charset="-120"/>
                        </a:rPr>
                        <a:t>Spring Boot</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c>
                  <a:txBody>
                    <a:bodyPr/>
                    <a:lstStyle/>
                    <a:p>
                      <a:pPr indent="0" marL="0">
                        <a:buNone/>
                      </a:pPr>
                      <a:r>
                        <a:rPr lang="en-US" sz="1300" dirty="0">
                          <a:solidFill>
                            <a:srgbClr val="4A3B30"/>
                          </a:solidFill>
                          <a:latin typeface="Calibri" pitchFamily="34" charset="0"/>
                          <a:ea typeface="Calibri" pitchFamily="34" charset="-122"/>
                          <a:cs typeface="Calibri" pitchFamily="34" charset="-120"/>
                        </a:rPr>
                        <a:t>The backend API</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r>
              <a:tr h="356616">
                <a:tc>
                  <a:txBody>
                    <a:bodyPr/>
                    <a:lstStyle/>
                    <a:p>
                      <a:pPr indent="0" marL="0">
                        <a:buNone/>
                      </a:pPr>
                      <a:r>
                        <a:rPr lang="en-US" sz="1300" b="1" dirty="0">
                          <a:solidFill>
                            <a:srgbClr val="4A3B30"/>
                          </a:solidFill>
                          <a:latin typeface="Calibri" pitchFamily="34" charset="0"/>
                          <a:ea typeface="Calibri" pitchFamily="34" charset="-122"/>
                          <a:cs typeface="Calibri" pitchFamily="34" charset="-120"/>
                        </a:rPr>
                        <a:t>Spring Security, JWT, BCrypt</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c>
                  <a:txBody>
                    <a:bodyPr/>
                    <a:lstStyle/>
                    <a:p>
                      <a:pPr indent="0" marL="0">
                        <a:buNone/>
                      </a:pPr>
                      <a:r>
                        <a:rPr lang="en-US" sz="1300" dirty="0">
                          <a:solidFill>
                            <a:srgbClr val="4A3B30"/>
                          </a:solidFill>
                          <a:latin typeface="Calibri" pitchFamily="34" charset="0"/>
                          <a:ea typeface="Calibri" pitchFamily="34" charset="-122"/>
                          <a:cs typeface="Calibri" pitchFamily="34" charset="-120"/>
                        </a:rPr>
                        <a:t>Login, access control and safe password storage</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r>
              <a:tr h="356616">
                <a:tc>
                  <a:txBody>
                    <a:bodyPr/>
                    <a:lstStyle/>
                    <a:p>
                      <a:pPr indent="0" marL="0">
                        <a:buNone/>
                      </a:pPr>
                      <a:r>
                        <a:rPr lang="en-US" sz="1300" b="1" dirty="0">
                          <a:solidFill>
                            <a:srgbClr val="4A3B30"/>
                          </a:solidFill>
                          <a:latin typeface="Calibri" pitchFamily="34" charset="0"/>
                          <a:ea typeface="Calibri" pitchFamily="34" charset="-122"/>
                          <a:cs typeface="Calibri" pitchFamily="34" charset="-120"/>
                        </a:rPr>
                        <a:t>BouncyCastle</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c>
                  <a:txBody>
                    <a:bodyPr/>
                    <a:lstStyle/>
                    <a:p>
                      <a:pPr indent="0" marL="0">
                        <a:buNone/>
                      </a:pPr>
                      <a:r>
                        <a:rPr lang="en-US" sz="1300" dirty="0">
                          <a:solidFill>
                            <a:srgbClr val="4A3B30"/>
                          </a:solidFill>
                          <a:latin typeface="Calibri" pitchFamily="34" charset="0"/>
                          <a:ea typeface="Calibri" pitchFamily="34" charset="-122"/>
                          <a:cs typeface="Calibri" pitchFamily="34" charset="-120"/>
                        </a:rPr>
                        <a:t>Checks on the server that keys and messages are valid PGP</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r>
              <a:tr h="356616">
                <a:tc>
                  <a:txBody>
                    <a:bodyPr/>
                    <a:lstStyle/>
                    <a:p>
                      <a:pPr indent="0" marL="0">
                        <a:buNone/>
                      </a:pPr>
                      <a:r>
                        <a:rPr lang="en-US" sz="1300" b="1" dirty="0">
                          <a:solidFill>
                            <a:srgbClr val="4A3B30"/>
                          </a:solidFill>
                          <a:latin typeface="Calibri" pitchFamily="34" charset="0"/>
                          <a:ea typeface="Calibri" pitchFamily="34" charset="-122"/>
                          <a:cs typeface="Calibri" pitchFamily="34" charset="-120"/>
                        </a:rPr>
                        <a:t>WebSocket (STOMP)</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c>
                  <a:txBody>
                    <a:bodyPr/>
                    <a:lstStyle/>
                    <a:p>
                      <a:pPr indent="0" marL="0">
                        <a:buNone/>
                      </a:pPr>
                      <a:r>
                        <a:rPr lang="en-US" sz="1300" dirty="0">
                          <a:solidFill>
                            <a:srgbClr val="4A3B30"/>
                          </a:solidFill>
                          <a:latin typeface="Calibri" pitchFamily="34" charset="0"/>
                          <a:ea typeface="Calibri" pitchFamily="34" charset="-122"/>
                          <a:cs typeface="Calibri" pitchFamily="34" charset="-120"/>
                        </a:rPr>
                        <a:t>Delivers new messages instantly</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r>
              <a:tr h="356616">
                <a:tc>
                  <a:txBody>
                    <a:bodyPr/>
                    <a:lstStyle/>
                    <a:p>
                      <a:pPr indent="0" marL="0">
                        <a:buNone/>
                      </a:pPr>
                      <a:r>
                        <a:rPr lang="en-US" sz="1300" b="1" dirty="0">
                          <a:solidFill>
                            <a:srgbClr val="4A3B30"/>
                          </a:solidFill>
                          <a:latin typeface="Calibri" pitchFamily="34" charset="0"/>
                          <a:ea typeface="Calibri" pitchFamily="34" charset="-122"/>
                          <a:cs typeface="Calibri" pitchFamily="34" charset="-120"/>
                        </a:rPr>
                        <a:t>PostgreSQL</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c>
                  <a:txBody>
                    <a:bodyPr/>
                    <a:lstStyle/>
                    <a:p>
                      <a:pPr indent="0" marL="0">
                        <a:buNone/>
                      </a:pPr>
                      <a:r>
                        <a:rPr lang="en-US" sz="1300" dirty="0">
                          <a:solidFill>
                            <a:srgbClr val="4A3B30"/>
                          </a:solidFill>
                          <a:latin typeface="Calibri" pitchFamily="34" charset="0"/>
                          <a:ea typeface="Calibri" pitchFamily="34" charset="-122"/>
                          <a:cs typeface="Calibri" pitchFamily="34" charset="-120"/>
                        </a:rPr>
                        <a:t>Stores accounts, public keys and encrypted messages</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r>
              <a:tr h="356616">
                <a:tc>
                  <a:txBody>
                    <a:bodyPr/>
                    <a:lstStyle/>
                    <a:p>
                      <a:pPr indent="0" marL="0">
                        <a:buNone/>
                      </a:pPr>
                      <a:r>
                        <a:rPr lang="en-US" sz="1300" b="1" dirty="0">
                          <a:solidFill>
                            <a:srgbClr val="4A3B30"/>
                          </a:solidFill>
                          <a:latin typeface="Calibri" pitchFamily="34" charset="0"/>
                          <a:ea typeface="Calibri" pitchFamily="34" charset="-122"/>
                          <a:cs typeface="Calibri" pitchFamily="34" charset="-120"/>
                        </a:rPr>
                        <a:t>Docker</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c>
                  <a:txBody>
                    <a:bodyPr/>
                    <a:lstStyle/>
                    <a:p>
                      <a:pPr indent="0" marL="0">
                        <a:buNone/>
                      </a:pPr>
                      <a:r>
                        <a:rPr lang="en-US" sz="1300" dirty="0">
                          <a:solidFill>
                            <a:srgbClr val="4A3B30"/>
                          </a:solidFill>
                          <a:latin typeface="Calibri" pitchFamily="34" charset="0"/>
                          <a:ea typeface="Calibri" pitchFamily="34" charset="-122"/>
                          <a:cs typeface="Calibri" pitchFamily="34" charset="-120"/>
                        </a:rPr>
                        <a:t>Runs the whole app with one command</a:t>
                      </a:r>
                      <a:endParaRPr lang="en-US" sz="1300" dirty="0">
                        <a:latin typeface="Calibri" charset="0"/>
                        <a:ea typeface="Calibri" charset="0"/>
                        <a:cs typeface="Calibri" charset="0"/>
                      </a:endParaRPr>
                    </a:p>
                  </a:txBody>
                  <a:tcPr marL="109728" marR="109728" marT="36576" marB="36576" anchor="ctr">
                    <a:lnL w="9525" cap="flat" cmpd="sng" algn="ctr">
                      <a:solidFill>
                        <a:srgbClr val="D6C7B3"/>
                      </a:solidFill>
                      <a:prstDash val="solid"/>
                      <a:round/>
                      <a:headEnd type="none" w="med" len="med"/>
                      <a:tailEnd type="none" w="med" len="med"/>
                    </a:lnL>
                    <a:lnR w="9525" cap="flat" cmpd="sng" algn="ctr">
                      <a:solidFill>
                        <a:srgbClr val="D6C7B3"/>
                      </a:solidFill>
                      <a:prstDash val="solid"/>
                      <a:round/>
                      <a:headEnd type="none" w="med" len="med"/>
                      <a:tailEnd type="none" w="med" len="med"/>
                    </a:lnR>
                    <a:lnT w="9525" cap="flat" cmpd="sng" algn="ctr">
                      <a:solidFill>
                        <a:srgbClr val="D6C7B3"/>
                      </a:solidFill>
                      <a:prstDash val="solid"/>
                      <a:round/>
                      <a:headEnd type="none" w="med" len="med"/>
                      <a:tailEnd type="none" w="med" len="med"/>
                    </a:lnT>
                    <a:lnB w="9525" cap="flat" cmpd="sng" algn="ctr">
                      <a:solidFill>
                        <a:srgbClr val="D6C7B3"/>
                      </a:solidFill>
                      <a:prstDash val="solid"/>
                      <a:round/>
                      <a:headEnd type="none" w="med" len="med"/>
                      <a:tailEnd type="none" w="med" len="med"/>
                    </a:lnB>
                  </a:tcPr>
                </a:tc>
              </a:tr>
            </a:tbl>
          </a:graphicData>
        </a:graphic>
      </p:graphicFrame>
      <p:sp>
        <p:nvSpPr>
          <p:cNvPr id="4" name="Text 1"/>
          <p:cNvSpPr txBox="1"/>
          <p:nvPr/>
        </p:nvSpPr>
        <p:spPr>
          <a:xfrm>
            <a:off x="548640" y="4754880"/>
            <a:ext cx="2743200" cy="228600"/>
          </a:xfrm>
          <a:prstGeom prst="rect">
            <a:avLst/>
          </a:prstGeom>
          <a:noFill/>
          <a:ln/>
        </p:spPr>
        <p:txBody>
          <a:bodyPr wrap="square" lIns="0" tIns="0" rIns="0" bIns="0" rtlCol="0" anchor="t"/>
          <a:lstStyle/>
          <a:p>
            <a:pPr indent="0" marL="0">
              <a:buNone/>
            </a:pPr>
            <a:r>
              <a:rPr lang="en-US" sz="1000" dirty="0">
                <a:solidFill>
                  <a:srgbClr val="8A7462"/>
                </a:solidFill>
                <a:latin typeface="Calibri" pitchFamily="34" charset="0"/>
                <a:ea typeface="Calibri" pitchFamily="34" charset="-122"/>
                <a:cs typeface="Calibri" pitchFamily="34" charset="-120"/>
              </a:rPr>
              <a:t>CipherChat</a:t>
            </a:r>
            <a:endParaRPr lang="en-US" sz="1000" dirty="0"/>
          </a:p>
        </p:txBody>
      </p:sp>
      <p:sp>
        <p:nvSpPr>
          <p:cNvPr id="5" name="Text 2"/>
          <p:cNvSpPr txBox="1"/>
          <p:nvPr/>
        </p:nvSpPr>
        <p:spPr>
          <a:xfrm>
            <a:off x="8138160" y="4754880"/>
            <a:ext cx="457200" cy="228600"/>
          </a:xfrm>
          <a:prstGeom prst="rect">
            <a:avLst/>
          </a:prstGeom>
          <a:noFill/>
          <a:ln/>
        </p:spPr>
        <p:txBody>
          <a:bodyPr wrap="square" lIns="0" tIns="0" rIns="0" bIns="0" rtlCol="0" anchor="t"/>
          <a:lstStyle/>
          <a:p>
            <a:pPr algn="r" indent="0" marL="0">
              <a:buNone/>
            </a:pPr>
            <a:r>
              <a:rPr lang="en-US" sz="1000" dirty="0">
                <a:solidFill>
                  <a:srgbClr val="8A746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EE4"/>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t"/>
          <a:lstStyle/>
          <a:p>
            <a:pPr indent="0" marL="0">
              <a:buNone/>
            </a:pPr>
            <a:r>
              <a:rPr lang="en-US" sz="3000" b="1" dirty="0">
                <a:solidFill>
                  <a:srgbClr val="4A3B30"/>
                </a:solidFill>
                <a:latin typeface="Calibri" pitchFamily="34" charset="0"/>
                <a:ea typeface="Calibri" pitchFamily="34" charset="-122"/>
                <a:cs typeface="Calibri" pitchFamily="34" charset="-120"/>
              </a:rPr>
              <a:t>Security highlights</a:t>
            </a:r>
            <a:endParaRPr lang="en-US" sz="3000" dirty="0"/>
          </a:p>
        </p:txBody>
      </p:sp>
      <p:sp>
        <p:nvSpPr>
          <p:cNvPr id="3" name="Text 1"/>
          <p:cNvSpPr txBox="1"/>
          <p:nvPr/>
        </p:nvSpPr>
        <p:spPr>
          <a:xfrm>
            <a:off x="548640" y="1143000"/>
            <a:ext cx="8046720" cy="201168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rgbClr val="4A3B30"/>
                </a:solidFill>
                <a:latin typeface="Calibri" pitchFamily="34" charset="0"/>
                <a:ea typeface="Calibri" pitchFamily="34" charset="-122"/>
                <a:cs typeface="Calibri" pitchFamily="34" charset="-120"/>
              </a:rPr>
              <a:t>End-to-end encryption: </a:t>
            </a:r>
            <a:pPr indent="0" marL="0">
              <a:spcAft>
                <a:spcPts val="1000"/>
              </a:spcAft>
              <a:buNone/>
            </a:pPr>
            <a:r>
              <a:rPr lang="en-US" sz="1600" dirty="0">
                <a:solidFill>
                  <a:srgbClr val="4A3B30"/>
                </a:solidFill>
                <a:latin typeface="Calibri" pitchFamily="34" charset="0"/>
                <a:ea typeface="Calibri" pitchFamily="34" charset="-122"/>
                <a:cs typeface="Calibri" pitchFamily="34" charset="-120"/>
              </a:rPr>
              <a:t>messages and files are encrypted in the sender's browser.</a:t>
            </a:r>
            <a:endParaRPr lang="en-US" sz="1600" dirty="0"/>
          </a:p>
          <a:p>
            <a:pPr marL="342900" indent="-342900">
              <a:spcAft>
                <a:spcPts val="1000"/>
              </a:spcAft>
              <a:buSzPct val="100000"/>
              <a:buChar char="•"/>
            </a:pPr>
            <a:r>
              <a:rPr lang="en-US" sz="1600" b="1" dirty="0">
                <a:solidFill>
                  <a:srgbClr val="4A3B30"/>
                </a:solidFill>
                <a:latin typeface="Calibri" pitchFamily="34" charset="0"/>
                <a:ea typeface="Calibri" pitchFamily="34" charset="-122"/>
                <a:cs typeface="Calibri" pitchFamily="34" charset="-120"/>
              </a:rPr>
              <a:t>Zero-knowledge server: </a:t>
            </a:r>
            <a:pPr indent="0" marL="0">
              <a:spcAft>
                <a:spcPts val="1000"/>
              </a:spcAft>
              <a:buNone/>
            </a:pPr>
            <a:r>
              <a:rPr lang="en-US" sz="1600" dirty="0">
                <a:solidFill>
                  <a:srgbClr val="4A3B30"/>
                </a:solidFill>
                <a:latin typeface="Calibri" pitchFamily="34" charset="0"/>
                <a:ea typeface="Calibri" pitchFamily="34" charset="-122"/>
                <a:cs typeface="Calibri" pitchFamily="34" charset="-120"/>
              </a:rPr>
              <a:t>it never sees plaintext, private keys or passphrases.</a:t>
            </a:r>
            <a:endParaRPr lang="en-US" sz="1600" dirty="0"/>
          </a:p>
          <a:p>
            <a:pPr marL="342900" indent="-342900">
              <a:spcAft>
                <a:spcPts val="1000"/>
              </a:spcAft>
              <a:buSzPct val="100000"/>
              <a:buChar char="•"/>
            </a:pPr>
            <a:r>
              <a:rPr lang="en-US" sz="1600" b="1" dirty="0">
                <a:solidFill>
                  <a:srgbClr val="4A3B30"/>
                </a:solidFill>
                <a:latin typeface="Calibri" pitchFamily="34" charset="0"/>
                <a:ea typeface="Calibri" pitchFamily="34" charset="-122"/>
                <a:cs typeface="Calibri" pitchFamily="34" charset="-120"/>
              </a:rPr>
              <a:t>Signatures: </a:t>
            </a:r>
            <a:pPr indent="0" marL="0">
              <a:spcAft>
                <a:spcPts val="1000"/>
              </a:spcAft>
              <a:buNone/>
            </a:pPr>
            <a:r>
              <a:rPr lang="en-US" sz="1600" dirty="0">
                <a:solidFill>
                  <a:srgbClr val="4A3B30"/>
                </a:solidFill>
                <a:latin typeface="Calibri" pitchFamily="34" charset="0"/>
                <a:ea typeface="Calibri" pitchFamily="34" charset="-122"/>
                <a:cs typeface="Calibri" pitchFamily="34" charset="-120"/>
              </a:rPr>
              <a:t>the receiver sees "Verified" when a message really came from the sender.</a:t>
            </a:r>
            <a:endParaRPr lang="en-US" sz="1600" dirty="0"/>
          </a:p>
          <a:p>
            <a:pPr marL="342900" indent="-342900">
              <a:spcAft>
                <a:spcPts val="1000"/>
              </a:spcAft>
              <a:buSzPct val="100000"/>
              <a:buChar char="•"/>
            </a:pPr>
            <a:r>
              <a:rPr lang="en-US" sz="1600" b="1" dirty="0">
                <a:solidFill>
                  <a:srgbClr val="4A3B30"/>
                </a:solidFill>
                <a:latin typeface="Calibri" pitchFamily="34" charset="0"/>
                <a:ea typeface="Calibri" pitchFamily="34" charset="-122"/>
                <a:cs typeface="Calibri" pitchFamily="34" charset="-120"/>
              </a:rPr>
              <a:t>Fingerprints: </a:t>
            </a:r>
            <a:pPr indent="0" marL="0">
              <a:spcAft>
                <a:spcPts val="1000"/>
              </a:spcAft>
              <a:buNone/>
            </a:pPr>
            <a:r>
              <a:rPr lang="en-US" sz="1600" dirty="0">
                <a:solidFill>
                  <a:srgbClr val="4A3B30"/>
                </a:solidFill>
                <a:latin typeface="Calibri" pitchFamily="34" charset="0"/>
                <a:ea typeface="Calibri" pitchFamily="34" charset="-122"/>
                <a:cs typeface="Calibri" pitchFamily="34" charset="-120"/>
              </a:rPr>
              <a:t>users can compare them to check that no key was swapped.</a:t>
            </a:r>
            <a:endParaRPr lang="en-US" sz="1600" dirty="0"/>
          </a:p>
        </p:txBody>
      </p:sp>
      <p:sp>
        <p:nvSpPr>
          <p:cNvPr id="4" name="Text 2"/>
          <p:cNvSpPr txBox="1"/>
          <p:nvPr/>
        </p:nvSpPr>
        <p:spPr>
          <a:xfrm>
            <a:off x="548640" y="3429000"/>
            <a:ext cx="4206240" cy="548640"/>
          </a:xfrm>
          <a:prstGeom prst="rect">
            <a:avLst/>
          </a:prstGeom>
          <a:noFill/>
          <a:ln/>
        </p:spPr>
        <p:txBody>
          <a:bodyPr wrap="square" lIns="0" tIns="0" rIns="0" bIns="0" rtlCol="0" anchor="t"/>
          <a:lstStyle/>
          <a:p>
            <a:pPr indent="0" marL="0">
              <a:buNone/>
            </a:pPr>
            <a:r>
              <a:rPr lang="en-US" sz="2600" b="1" dirty="0">
                <a:solidFill>
                  <a:srgbClr val="B0603F"/>
                </a:solidFill>
                <a:latin typeface="Calibri" pitchFamily="34" charset="0"/>
                <a:ea typeface="Calibri" pitchFamily="34" charset="-122"/>
                <a:cs typeface="Calibri" pitchFamily="34" charset="-120"/>
              </a:rPr>
              <a:t>Thank you. Questions?</a:t>
            </a:r>
            <a:endParaRPr lang="en-US" sz="2600" dirty="0"/>
          </a:p>
        </p:txBody>
      </p:sp>
      <p:sp>
        <p:nvSpPr>
          <p:cNvPr id="5" name="Text 3"/>
          <p:cNvSpPr txBox="1"/>
          <p:nvPr/>
        </p:nvSpPr>
        <p:spPr>
          <a:xfrm>
            <a:off x="4937760" y="3474720"/>
            <a:ext cx="3657600" cy="640080"/>
          </a:xfrm>
          <a:prstGeom prst="rect">
            <a:avLst/>
          </a:prstGeom>
          <a:noFill/>
          <a:ln/>
        </p:spPr>
        <p:txBody>
          <a:bodyPr wrap="square" lIns="0" tIns="0" rIns="0" bIns="0" rtlCol="0" anchor="t"/>
          <a:lstStyle/>
          <a:p>
            <a:pPr indent="0" marL="0">
              <a:spcAft>
                <a:spcPts val="400"/>
              </a:spcAft>
              <a:buNone/>
            </a:pPr>
            <a:r>
              <a:rPr lang="en-US" sz="1200" b="1" dirty="0">
                <a:solidFill>
                  <a:srgbClr val="65523F"/>
                </a:solidFill>
                <a:latin typeface="Calibri" pitchFamily="34" charset="0"/>
                <a:ea typeface="Calibri" pitchFamily="34" charset="-122"/>
                <a:cs typeface="Calibri" pitchFamily="34" charset="-120"/>
              </a:rPr>
              <a:t>Code: </a:t>
            </a:r>
            <a:pPr indent="0" marL="0">
              <a:spcAft>
                <a:spcPts val="400"/>
              </a:spcAft>
              <a:buNone/>
            </a:pPr>
            <a:r>
              <a:rPr lang="en-US" sz="1200" u="sng" dirty="0">
                <a:solidFill>
                  <a:srgbClr val="B0603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github.com/angelabs-png/cipherchat</a:t>
            </a:r>
            <a:endParaRPr lang="en-US" sz="1200" dirty="0"/>
          </a:p>
          <a:p>
            <a:pPr indent="0" marL="0">
              <a:spcAft>
                <a:spcPts val="400"/>
              </a:spcAft>
              <a:buNone/>
            </a:pPr>
            <a:r>
              <a:rPr lang="en-US" sz="1200" b="1" dirty="0">
                <a:solidFill>
                  <a:srgbClr val="65523F"/>
                </a:solidFill>
                <a:latin typeface="Calibri" pitchFamily="34" charset="0"/>
                <a:ea typeface="Calibri" pitchFamily="34" charset="-122"/>
                <a:cs typeface="Calibri" pitchFamily="34" charset="-120"/>
              </a:rPr>
              <a:t>Course: </a:t>
            </a:r>
            <a:pPr indent="0" marL="0">
              <a:spcAft>
                <a:spcPts val="400"/>
              </a:spcAft>
              <a:buNone/>
            </a:pPr>
            <a:r>
              <a:rPr lang="en-US" sz="1200" u="sng" dirty="0">
                <a:solidFill>
                  <a:srgbClr val="B0603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angelabs-png.github.io/cipherchat</a:t>
            </a:r>
            <a:endParaRPr lang="en-US" sz="1200" dirty="0"/>
          </a:p>
        </p:txBody>
      </p:sp>
      <p:sp>
        <p:nvSpPr>
          <p:cNvPr id="6" name="Text 4"/>
          <p:cNvSpPr txBox="1"/>
          <p:nvPr/>
        </p:nvSpPr>
        <p:spPr>
          <a:xfrm>
            <a:off x="548640" y="4754880"/>
            <a:ext cx="2743200" cy="228600"/>
          </a:xfrm>
          <a:prstGeom prst="rect">
            <a:avLst/>
          </a:prstGeom>
          <a:noFill/>
          <a:ln/>
        </p:spPr>
        <p:txBody>
          <a:bodyPr wrap="square" lIns="0" tIns="0" rIns="0" bIns="0" rtlCol="0" anchor="t"/>
          <a:lstStyle/>
          <a:p>
            <a:pPr indent="0" marL="0">
              <a:buNone/>
            </a:pPr>
            <a:r>
              <a:rPr lang="en-US" sz="1000" dirty="0">
                <a:solidFill>
                  <a:srgbClr val="8A7462"/>
                </a:solidFill>
                <a:latin typeface="Calibri" pitchFamily="34" charset="0"/>
                <a:ea typeface="Calibri" pitchFamily="34" charset="-122"/>
                <a:cs typeface="Calibri" pitchFamily="34" charset="-120"/>
              </a:rPr>
              <a:t>CipherChat</a:t>
            </a:r>
            <a:endParaRPr lang="en-US" sz="1000" dirty="0"/>
          </a:p>
        </p:txBody>
      </p:sp>
      <p:sp>
        <p:nvSpPr>
          <p:cNvPr id="7" name="Text 5"/>
          <p:cNvSpPr txBox="1"/>
          <p:nvPr/>
        </p:nvSpPr>
        <p:spPr>
          <a:xfrm>
            <a:off x="8138160" y="4754880"/>
            <a:ext cx="457200" cy="228600"/>
          </a:xfrm>
          <a:prstGeom prst="rect">
            <a:avLst/>
          </a:prstGeom>
          <a:noFill/>
          <a:ln/>
        </p:spPr>
        <p:txBody>
          <a:bodyPr wrap="square" lIns="0" tIns="0" rIns="0" bIns="0" rtlCol="0" anchor="t"/>
          <a:lstStyle/>
          <a:p>
            <a:pPr algn="r" indent="0" marL="0">
              <a:buNone/>
            </a:pPr>
            <a:r>
              <a:rPr lang="en-US" sz="1000" dirty="0">
                <a:solidFill>
                  <a:srgbClr val="8A746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CipherChat: Private Conversations with PGP Encryption</dc:title>
  <dc:subject>PptxGenJS Presentation</dc:subject>
  <dc:creator>Ange De Noella Mutesi</dc:creator>
  <cp:lastModifiedBy>Ange De Noella Mutesi</cp:lastModifiedBy>
  <cp:revision>1</cp:revision>
  <dcterms:created xsi:type="dcterms:W3CDTF">2026-09-29T11:42:07Z</dcterms:created>
  <dcterms:modified xsi:type="dcterms:W3CDTF">2026-09-29T11:42:07Z</dcterms:modified>
</cp:coreProperties>
</file>